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Wedges" charset="1" panose="02000500000000000000"/>
      <p:regular r:id="rId22"/>
    </p:embeddedFont>
    <p:embeddedFont>
      <p:font typeface="Dekko" charset="1" panose="00000500000000000000"/>
      <p:regular r:id="rId23"/>
    </p:embeddedFont>
    <p:embeddedFont>
      <p:font typeface="Canva Student Font"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jpeg" Type="http://schemas.openxmlformats.org/officeDocument/2006/relationships/image"/><Relationship Id="rId2" Target="../media/image3.png" Type="http://schemas.openxmlformats.org/officeDocument/2006/relationships/image"/><Relationship Id="rId20" Target="../media/image21.png" Type="http://schemas.openxmlformats.org/officeDocument/2006/relationships/image"/><Relationship Id="rId21" Target="../media/image22.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23.jpeg" Type="http://schemas.openxmlformats.org/officeDocument/2006/relationships/image"/><Relationship Id="rId15"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6381483">
            <a:off x="-3907500" y="4308153"/>
            <a:ext cx="7814999" cy="12245725"/>
          </a:xfrm>
          <a:custGeom>
            <a:avLst/>
            <a:gdLst/>
            <a:ahLst/>
            <a:cxnLst/>
            <a:rect r="r" b="b" t="t" l="l"/>
            <a:pathLst>
              <a:path h="12245725" w="7814999">
                <a:moveTo>
                  <a:pt x="0" y="0"/>
                </a:moveTo>
                <a:lnTo>
                  <a:pt x="7815000" y="0"/>
                </a:lnTo>
                <a:lnTo>
                  <a:pt x="7815000"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315856" y="3056143"/>
            <a:ext cx="9656288" cy="3926839"/>
          </a:xfrm>
          <a:prstGeom prst="rect">
            <a:avLst/>
          </a:prstGeom>
        </p:spPr>
        <p:txBody>
          <a:bodyPr anchor="t" rtlCol="false" tIns="0" lIns="0" bIns="0" rIns="0">
            <a:spAutoFit/>
          </a:bodyPr>
          <a:lstStyle/>
          <a:p>
            <a:pPr algn="ctr">
              <a:lnSpc>
                <a:spcPts val="15099"/>
              </a:lnSpc>
            </a:pPr>
            <a:r>
              <a:rPr lang="en-US" sz="15099">
                <a:solidFill>
                  <a:srgbClr val="B5838D"/>
                </a:solidFill>
                <a:latin typeface="Wedges"/>
                <a:ea typeface="Wedges"/>
                <a:cs typeface="Wedges"/>
                <a:sym typeface="Wedges"/>
              </a:rPr>
              <a:t>Group Aespa</a:t>
            </a:r>
          </a:p>
        </p:txBody>
      </p:sp>
      <p:sp>
        <p:nvSpPr>
          <p:cNvPr name="Freeform 4" id="4"/>
          <p:cNvSpPr/>
          <p:nvPr/>
        </p:nvSpPr>
        <p:spPr>
          <a:xfrm flipH="false" flipV="false" rot="-2779055">
            <a:off x="13351800" y="-5094162"/>
            <a:ext cx="7814999" cy="12245725"/>
          </a:xfrm>
          <a:custGeom>
            <a:avLst/>
            <a:gdLst/>
            <a:ahLst/>
            <a:cxnLst/>
            <a:rect r="r" b="b" t="t" l="l"/>
            <a:pathLst>
              <a:path h="12245725" w="7814999">
                <a:moveTo>
                  <a:pt x="0" y="0"/>
                </a:moveTo>
                <a:lnTo>
                  <a:pt x="7815000" y="0"/>
                </a:lnTo>
                <a:lnTo>
                  <a:pt x="7815000" y="12245724"/>
                </a:lnTo>
                <a:lnTo>
                  <a:pt x="0" y="12245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457531">
            <a:off x="1773293" y="7294565"/>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457531">
            <a:off x="13453750" y="636873"/>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849820">
            <a:off x="14848576" y="7605376"/>
            <a:ext cx="1792971" cy="3071470"/>
          </a:xfrm>
          <a:custGeom>
            <a:avLst/>
            <a:gdLst/>
            <a:ahLst/>
            <a:cxnLst/>
            <a:rect r="r" b="b" t="t" l="l"/>
            <a:pathLst>
              <a:path h="3071470" w="1792971">
                <a:moveTo>
                  <a:pt x="0" y="0"/>
                </a:moveTo>
                <a:lnTo>
                  <a:pt x="1792970" y="0"/>
                </a:lnTo>
                <a:lnTo>
                  <a:pt x="1792970" y="3071471"/>
                </a:lnTo>
                <a:lnTo>
                  <a:pt x="0" y="30714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3849820">
            <a:off x="1646454" y="-517246"/>
            <a:ext cx="1792971" cy="3071470"/>
          </a:xfrm>
          <a:custGeom>
            <a:avLst/>
            <a:gdLst/>
            <a:ahLst/>
            <a:cxnLst/>
            <a:rect r="r" b="b" t="t" l="l"/>
            <a:pathLst>
              <a:path h="3071470" w="1792971">
                <a:moveTo>
                  <a:pt x="1792970" y="3071470"/>
                </a:moveTo>
                <a:lnTo>
                  <a:pt x="0" y="3071470"/>
                </a:lnTo>
                <a:lnTo>
                  <a:pt x="0" y="0"/>
                </a:lnTo>
                <a:lnTo>
                  <a:pt x="1792970" y="0"/>
                </a:lnTo>
                <a:lnTo>
                  <a:pt x="1792970" y="307147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true" rot="0">
            <a:off x="16076645" y="-104066"/>
            <a:ext cx="2365310" cy="2890720"/>
          </a:xfrm>
          <a:custGeom>
            <a:avLst/>
            <a:gdLst/>
            <a:ahLst/>
            <a:cxnLst/>
            <a:rect r="r" b="b" t="t" l="l"/>
            <a:pathLst>
              <a:path h="2890720" w="2365310">
                <a:moveTo>
                  <a:pt x="2365310" y="2890720"/>
                </a:moveTo>
                <a:lnTo>
                  <a:pt x="0" y="2890720"/>
                </a:lnTo>
                <a:lnTo>
                  <a:pt x="0" y="0"/>
                </a:lnTo>
                <a:lnTo>
                  <a:pt x="2365310" y="0"/>
                </a:lnTo>
                <a:lnTo>
                  <a:pt x="2365310" y="289072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4630400" y="1961735"/>
            <a:ext cx="7315200" cy="3604399"/>
          </a:xfrm>
          <a:custGeom>
            <a:avLst/>
            <a:gdLst/>
            <a:ahLst/>
            <a:cxnLst/>
            <a:rect r="r" b="b" t="t" l="l"/>
            <a:pathLst>
              <a:path h="3604399" w="7315200">
                <a:moveTo>
                  <a:pt x="0" y="0"/>
                </a:moveTo>
                <a:lnTo>
                  <a:pt x="7315200" y="0"/>
                </a:lnTo>
                <a:lnTo>
                  <a:pt x="7315200" y="3604398"/>
                </a:lnTo>
                <a:lnTo>
                  <a:pt x="0" y="36043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3259984" y="2299625"/>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0">
            <a:off x="6571667" y="-1953334"/>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2779055">
            <a:off x="13351800" y="-5703043"/>
            <a:ext cx="7814999" cy="12245725"/>
          </a:xfrm>
          <a:custGeom>
            <a:avLst/>
            <a:gdLst/>
            <a:ahLst/>
            <a:cxnLst/>
            <a:rect r="r" b="b" t="t" l="l"/>
            <a:pathLst>
              <a:path h="12245725" w="7814999">
                <a:moveTo>
                  <a:pt x="0" y="0"/>
                </a:moveTo>
                <a:lnTo>
                  <a:pt x="7815000" y="0"/>
                </a:lnTo>
                <a:lnTo>
                  <a:pt x="7815000"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81483">
            <a:off x="-3907500" y="4308153"/>
            <a:ext cx="7814999" cy="12245725"/>
          </a:xfrm>
          <a:custGeom>
            <a:avLst/>
            <a:gdLst/>
            <a:ahLst/>
            <a:cxnLst/>
            <a:rect r="r" b="b" t="t" l="l"/>
            <a:pathLst>
              <a:path h="12245725" w="7814999">
                <a:moveTo>
                  <a:pt x="0" y="0"/>
                </a:moveTo>
                <a:lnTo>
                  <a:pt x="7815000" y="0"/>
                </a:lnTo>
                <a:lnTo>
                  <a:pt x="7815000" y="12245725"/>
                </a:lnTo>
                <a:lnTo>
                  <a:pt x="0" y="122457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457531">
            <a:off x="1137924" y="6846681"/>
            <a:ext cx="1602407" cy="1787901"/>
          </a:xfrm>
          <a:custGeom>
            <a:avLst/>
            <a:gdLst/>
            <a:ahLst/>
            <a:cxnLst/>
            <a:rect r="r" b="b" t="t" l="l"/>
            <a:pathLst>
              <a:path h="1787901" w="1602407">
                <a:moveTo>
                  <a:pt x="0" y="0"/>
                </a:moveTo>
                <a:lnTo>
                  <a:pt x="1602406" y="0"/>
                </a:lnTo>
                <a:lnTo>
                  <a:pt x="1602406" y="1787901"/>
                </a:lnTo>
                <a:lnTo>
                  <a:pt x="0" y="17879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457531">
            <a:off x="13806242" y="699249"/>
            <a:ext cx="1648316" cy="1839126"/>
          </a:xfrm>
          <a:custGeom>
            <a:avLst/>
            <a:gdLst/>
            <a:ahLst/>
            <a:cxnLst/>
            <a:rect r="r" b="b" t="t" l="l"/>
            <a:pathLst>
              <a:path h="1839126" w="1648316">
                <a:moveTo>
                  <a:pt x="0" y="0"/>
                </a:moveTo>
                <a:lnTo>
                  <a:pt x="1648316" y="0"/>
                </a:lnTo>
                <a:lnTo>
                  <a:pt x="1648316" y="1839126"/>
                </a:lnTo>
                <a:lnTo>
                  <a:pt x="0" y="18391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849820">
            <a:off x="14848576" y="7605376"/>
            <a:ext cx="1792971" cy="3071470"/>
          </a:xfrm>
          <a:custGeom>
            <a:avLst/>
            <a:gdLst/>
            <a:ahLst/>
            <a:cxnLst/>
            <a:rect r="r" b="b" t="t" l="l"/>
            <a:pathLst>
              <a:path h="3071470" w="1792971">
                <a:moveTo>
                  <a:pt x="0" y="0"/>
                </a:moveTo>
                <a:lnTo>
                  <a:pt x="1792970" y="0"/>
                </a:lnTo>
                <a:lnTo>
                  <a:pt x="1792970" y="3071471"/>
                </a:lnTo>
                <a:lnTo>
                  <a:pt x="0" y="30714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true" rot="0">
            <a:off x="16076645" y="-712947"/>
            <a:ext cx="2365310" cy="2890720"/>
          </a:xfrm>
          <a:custGeom>
            <a:avLst/>
            <a:gdLst/>
            <a:ahLst/>
            <a:cxnLst/>
            <a:rect r="r" b="b" t="t" l="l"/>
            <a:pathLst>
              <a:path h="2890720" w="2365310">
                <a:moveTo>
                  <a:pt x="2365310" y="2890720"/>
                </a:moveTo>
                <a:lnTo>
                  <a:pt x="0" y="2890720"/>
                </a:lnTo>
                <a:lnTo>
                  <a:pt x="0" y="0"/>
                </a:lnTo>
                <a:lnTo>
                  <a:pt x="2365310" y="0"/>
                </a:lnTo>
                <a:lnTo>
                  <a:pt x="2365310" y="289072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4630400" y="1352854"/>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749159" y="610319"/>
            <a:ext cx="9432850" cy="1273302"/>
          </a:xfrm>
          <a:prstGeom prst="rect">
            <a:avLst/>
          </a:prstGeom>
        </p:spPr>
        <p:txBody>
          <a:bodyPr anchor="t" rtlCol="false" tIns="0" lIns="0" bIns="0" rIns="0">
            <a:spAutoFit/>
          </a:bodyPr>
          <a:lstStyle/>
          <a:p>
            <a:pPr algn="l">
              <a:lnSpc>
                <a:spcPts val="9630"/>
              </a:lnSpc>
            </a:pPr>
            <a:r>
              <a:rPr lang="en-US" sz="9630">
                <a:solidFill>
                  <a:srgbClr val="B5838D"/>
                </a:solidFill>
                <a:latin typeface="Wedges"/>
                <a:ea typeface="Wedges"/>
                <a:cs typeface="Wedges"/>
                <a:sym typeface="Wedges"/>
              </a:rPr>
              <a:t>Group member</a:t>
            </a:r>
          </a:p>
        </p:txBody>
      </p:sp>
      <p:sp>
        <p:nvSpPr>
          <p:cNvPr name="Freeform 12" id="12"/>
          <p:cNvSpPr/>
          <p:nvPr/>
        </p:nvSpPr>
        <p:spPr>
          <a:xfrm flipH="false" flipV="false" rot="0">
            <a:off x="-4355123" y="1618812"/>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3" id="13"/>
          <p:cNvGrpSpPr/>
          <p:nvPr/>
        </p:nvGrpSpPr>
        <p:grpSpPr>
          <a:xfrm rot="0">
            <a:off x="2319165" y="4699221"/>
            <a:ext cx="3086100" cy="4318108"/>
            <a:chOff x="0" y="0"/>
            <a:chExt cx="812800" cy="1137280"/>
          </a:xfrm>
        </p:grpSpPr>
        <p:sp>
          <p:nvSpPr>
            <p:cNvPr name="Freeform 14" id="14"/>
            <p:cNvSpPr/>
            <p:nvPr/>
          </p:nvSpPr>
          <p:spPr>
            <a:xfrm flipH="false" flipV="false" rot="0">
              <a:off x="0" y="0"/>
              <a:ext cx="812800" cy="1137280"/>
            </a:xfrm>
            <a:custGeom>
              <a:avLst/>
              <a:gdLst/>
              <a:ahLst/>
              <a:cxnLst/>
              <a:rect r="r" b="b" t="t" l="l"/>
              <a:pathLst>
                <a:path h="1137280" w="812800">
                  <a:moveTo>
                    <a:pt x="127941" y="0"/>
                  </a:moveTo>
                  <a:lnTo>
                    <a:pt x="684859" y="0"/>
                  </a:lnTo>
                  <a:cubicBezTo>
                    <a:pt x="718791" y="0"/>
                    <a:pt x="751333" y="13479"/>
                    <a:pt x="775327" y="37473"/>
                  </a:cubicBezTo>
                  <a:cubicBezTo>
                    <a:pt x="799321" y="61467"/>
                    <a:pt x="812800" y="94009"/>
                    <a:pt x="812800" y="127941"/>
                  </a:cubicBezTo>
                  <a:lnTo>
                    <a:pt x="812800" y="1009339"/>
                  </a:lnTo>
                  <a:cubicBezTo>
                    <a:pt x="812800" y="1043271"/>
                    <a:pt x="799321" y="1075813"/>
                    <a:pt x="775327" y="1099807"/>
                  </a:cubicBezTo>
                  <a:cubicBezTo>
                    <a:pt x="751333" y="1123800"/>
                    <a:pt x="718791" y="1137280"/>
                    <a:pt x="684859" y="1137280"/>
                  </a:cubicBezTo>
                  <a:lnTo>
                    <a:pt x="127941" y="1137280"/>
                  </a:lnTo>
                  <a:cubicBezTo>
                    <a:pt x="94009" y="1137280"/>
                    <a:pt x="61467" y="1123800"/>
                    <a:pt x="37473" y="1099807"/>
                  </a:cubicBezTo>
                  <a:cubicBezTo>
                    <a:pt x="13479" y="1075813"/>
                    <a:pt x="0" y="1043271"/>
                    <a:pt x="0" y="1009339"/>
                  </a:cubicBezTo>
                  <a:lnTo>
                    <a:pt x="0" y="127941"/>
                  </a:lnTo>
                  <a:cubicBezTo>
                    <a:pt x="0" y="94009"/>
                    <a:pt x="13479" y="61467"/>
                    <a:pt x="37473" y="37473"/>
                  </a:cubicBezTo>
                  <a:cubicBezTo>
                    <a:pt x="61467" y="13479"/>
                    <a:pt x="94009" y="0"/>
                    <a:pt x="127941" y="0"/>
                  </a:cubicBezTo>
                  <a:close/>
                </a:path>
              </a:pathLst>
            </a:custGeom>
            <a:solidFill>
              <a:srgbClr val="BFBEE8"/>
            </a:solidFill>
          </p:spPr>
        </p:sp>
        <p:sp>
          <p:nvSpPr>
            <p:cNvPr name="TextBox 15" id="15"/>
            <p:cNvSpPr txBox="true"/>
            <p:nvPr/>
          </p:nvSpPr>
          <p:spPr>
            <a:xfrm>
              <a:off x="0" y="-47625"/>
              <a:ext cx="812800" cy="1184905"/>
            </a:xfrm>
            <a:prstGeom prst="rect">
              <a:avLst/>
            </a:prstGeom>
          </p:spPr>
          <p:txBody>
            <a:bodyPr anchor="ctr" rtlCol="false" tIns="50800" lIns="50800" bIns="50800" rIns="50800"/>
            <a:lstStyle/>
            <a:p>
              <a:pPr algn="ctr">
                <a:lnSpc>
                  <a:spcPts val="2939"/>
                </a:lnSpc>
              </a:pPr>
              <a:r>
                <a:rPr lang="en-US" sz="2099">
                  <a:solidFill>
                    <a:srgbClr val="000000"/>
                  </a:solidFill>
                  <a:latin typeface="Dekko"/>
                  <a:ea typeface="Dekko"/>
                  <a:cs typeface="Dekko"/>
                  <a:sym typeface="Dekko"/>
                </a:rPr>
                <a:t>Hor Jun Yin </a:t>
              </a:r>
            </a:p>
            <a:p>
              <a:pPr algn="ctr">
                <a:lnSpc>
                  <a:spcPts val="2939"/>
                </a:lnSpc>
              </a:pPr>
              <a:r>
                <a:rPr lang="en-US" sz="2099">
                  <a:solidFill>
                    <a:srgbClr val="000000"/>
                  </a:solidFill>
                  <a:latin typeface="Dekko"/>
                  <a:ea typeface="Dekko"/>
                  <a:cs typeface="Dekko"/>
                  <a:sym typeface="Dekko"/>
                </a:rPr>
                <a:t>2301812 | CN | P2</a:t>
              </a:r>
            </a:p>
            <a:p>
              <a:pPr algn="ctr">
                <a:lnSpc>
                  <a:spcPts val="2939"/>
                </a:lnSpc>
              </a:pPr>
              <a:r>
                <a:rPr lang="en-US" sz="2099">
                  <a:solidFill>
                    <a:srgbClr val="000000"/>
                  </a:solidFill>
                  <a:latin typeface="Dekko"/>
                  <a:ea typeface="Dekko"/>
                  <a:cs typeface="Dekko"/>
                  <a:sym typeface="Dekko"/>
                </a:rPr>
                <a:t>Web Pages Created: </a:t>
              </a:r>
            </a:p>
            <a:p>
              <a:pPr algn="ctr" marL="453388" indent="-226694" lvl="1">
                <a:lnSpc>
                  <a:spcPts val="2939"/>
                </a:lnSpc>
                <a:buFont typeface="Arial"/>
                <a:buChar char="•"/>
              </a:pPr>
              <a:r>
                <a:rPr lang="en-US" sz="2099">
                  <a:solidFill>
                    <a:srgbClr val="000000"/>
                  </a:solidFill>
                  <a:latin typeface="Dekko"/>
                  <a:ea typeface="Dekko"/>
                  <a:cs typeface="Dekko"/>
                  <a:sym typeface="Dekko"/>
                </a:rPr>
                <a:t>index.html</a:t>
              </a:r>
            </a:p>
            <a:p>
              <a:pPr algn="ctr" marL="453388" indent="-226694" lvl="1">
                <a:lnSpc>
                  <a:spcPts val="2939"/>
                </a:lnSpc>
                <a:buFont typeface="Arial"/>
                <a:buChar char="•"/>
              </a:pPr>
              <a:r>
                <a:rPr lang="en-US" sz="2099">
                  <a:solidFill>
                    <a:srgbClr val="000000"/>
                  </a:solidFill>
                  <a:latin typeface="Dekko"/>
                  <a:ea typeface="Dekko"/>
                  <a:cs typeface="Dekko"/>
                  <a:sym typeface="Dekko"/>
                </a:rPr>
                <a:t>destination.html</a:t>
              </a:r>
            </a:p>
            <a:p>
              <a:pPr algn="ctr" marL="453388" indent="-226694" lvl="1">
                <a:lnSpc>
                  <a:spcPts val="2939"/>
                </a:lnSpc>
                <a:buFont typeface="Arial"/>
                <a:buChar char="•"/>
              </a:pPr>
              <a:r>
                <a:rPr lang="en-US" sz="2099">
                  <a:solidFill>
                    <a:srgbClr val="000000"/>
                  </a:solidFill>
                  <a:latin typeface="Dekko"/>
                  <a:ea typeface="Dekko"/>
                  <a:cs typeface="Dekko"/>
                  <a:sym typeface="Dekko"/>
                </a:rPr>
                <a:t>continent.css</a:t>
              </a:r>
            </a:p>
            <a:p>
              <a:pPr algn="ctr" marL="453388" indent="-226694" lvl="1">
                <a:lnSpc>
                  <a:spcPts val="2939"/>
                </a:lnSpc>
                <a:buFont typeface="Arial"/>
                <a:buChar char="•"/>
              </a:pPr>
              <a:r>
                <a:rPr lang="en-US" sz="2099">
                  <a:solidFill>
                    <a:srgbClr val="000000"/>
                  </a:solidFill>
                  <a:latin typeface="Dekko"/>
                  <a:ea typeface="Dekko"/>
                  <a:cs typeface="Dekko"/>
                  <a:sym typeface="Dekko"/>
                </a:rPr>
                <a:t>country.css</a:t>
              </a:r>
            </a:p>
            <a:p>
              <a:pPr algn="ctr" marL="453388" indent="-226694" lvl="1">
                <a:lnSpc>
                  <a:spcPts val="2939"/>
                </a:lnSpc>
                <a:buFont typeface="Arial"/>
                <a:buChar char="•"/>
              </a:pPr>
              <a:r>
                <a:rPr lang="en-US" sz="2099">
                  <a:solidFill>
                    <a:srgbClr val="000000"/>
                  </a:solidFill>
                  <a:latin typeface="Dekko"/>
                  <a:ea typeface="Dekko"/>
                  <a:cs typeface="Dekko"/>
                  <a:sym typeface="Dekko"/>
                </a:rPr>
                <a:t>styles.css</a:t>
              </a:r>
            </a:p>
            <a:p>
              <a:pPr algn="ctr" marL="453388" indent="-226694" lvl="1">
                <a:lnSpc>
                  <a:spcPts val="2939"/>
                </a:lnSpc>
                <a:buFont typeface="Arial"/>
                <a:buChar char="•"/>
              </a:pPr>
              <a:r>
                <a:rPr lang="en-US" sz="2099">
                  <a:solidFill>
                    <a:srgbClr val="000000"/>
                  </a:solidFill>
                  <a:latin typeface="Dekko"/>
                  <a:ea typeface="Dekko"/>
                  <a:cs typeface="Dekko"/>
                  <a:sym typeface="Dekko"/>
                </a:rPr>
                <a:t>contact.html</a:t>
              </a:r>
            </a:p>
            <a:p>
              <a:pPr algn="ctr">
                <a:lnSpc>
                  <a:spcPts val="2939"/>
                </a:lnSpc>
                <a:spcBef>
                  <a:spcPct val="0"/>
                </a:spcBef>
              </a:pPr>
            </a:p>
          </p:txBody>
        </p:sp>
      </p:grpSp>
      <p:grpSp>
        <p:nvGrpSpPr>
          <p:cNvPr name="Group 16" id="16"/>
          <p:cNvGrpSpPr/>
          <p:nvPr/>
        </p:nvGrpSpPr>
        <p:grpSpPr>
          <a:xfrm rot="0">
            <a:off x="12990545" y="4628504"/>
            <a:ext cx="3086100" cy="4242346"/>
            <a:chOff x="0" y="0"/>
            <a:chExt cx="812800" cy="1117326"/>
          </a:xfrm>
        </p:grpSpPr>
        <p:sp>
          <p:nvSpPr>
            <p:cNvPr name="Freeform 17" id="17"/>
            <p:cNvSpPr/>
            <p:nvPr/>
          </p:nvSpPr>
          <p:spPr>
            <a:xfrm flipH="false" flipV="false" rot="0">
              <a:off x="0" y="0"/>
              <a:ext cx="812800" cy="1117326"/>
            </a:xfrm>
            <a:custGeom>
              <a:avLst/>
              <a:gdLst/>
              <a:ahLst/>
              <a:cxnLst/>
              <a:rect r="r" b="b" t="t" l="l"/>
              <a:pathLst>
                <a:path h="1117326" w="812800">
                  <a:moveTo>
                    <a:pt x="127941" y="0"/>
                  </a:moveTo>
                  <a:lnTo>
                    <a:pt x="684859" y="0"/>
                  </a:lnTo>
                  <a:cubicBezTo>
                    <a:pt x="718791" y="0"/>
                    <a:pt x="751333" y="13479"/>
                    <a:pt x="775327" y="37473"/>
                  </a:cubicBezTo>
                  <a:cubicBezTo>
                    <a:pt x="799321" y="61467"/>
                    <a:pt x="812800" y="94009"/>
                    <a:pt x="812800" y="127941"/>
                  </a:cubicBezTo>
                  <a:lnTo>
                    <a:pt x="812800" y="989385"/>
                  </a:lnTo>
                  <a:cubicBezTo>
                    <a:pt x="812800" y="1023317"/>
                    <a:pt x="799321" y="1055859"/>
                    <a:pt x="775327" y="1079853"/>
                  </a:cubicBezTo>
                  <a:cubicBezTo>
                    <a:pt x="751333" y="1103846"/>
                    <a:pt x="718791" y="1117326"/>
                    <a:pt x="684859" y="1117326"/>
                  </a:cubicBezTo>
                  <a:lnTo>
                    <a:pt x="127941" y="1117326"/>
                  </a:lnTo>
                  <a:cubicBezTo>
                    <a:pt x="94009" y="1117326"/>
                    <a:pt x="61467" y="1103846"/>
                    <a:pt x="37473" y="1079853"/>
                  </a:cubicBezTo>
                  <a:cubicBezTo>
                    <a:pt x="13479" y="1055859"/>
                    <a:pt x="0" y="1023317"/>
                    <a:pt x="0" y="989385"/>
                  </a:cubicBezTo>
                  <a:lnTo>
                    <a:pt x="0" y="127941"/>
                  </a:lnTo>
                  <a:cubicBezTo>
                    <a:pt x="0" y="94009"/>
                    <a:pt x="13479" y="61467"/>
                    <a:pt x="37473" y="37473"/>
                  </a:cubicBezTo>
                  <a:cubicBezTo>
                    <a:pt x="61467" y="13479"/>
                    <a:pt x="94009" y="0"/>
                    <a:pt x="127941" y="0"/>
                  </a:cubicBezTo>
                  <a:close/>
                </a:path>
              </a:pathLst>
            </a:custGeom>
            <a:solidFill>
              <a:srgbClr val="BFBEE8"/>
            </a:solidFill>
          </p:spPr>
        </p:sp>
        <p:sp>
          <p:nvSpPr>
            <p:cNvPr name="TextBox 18" id="18"/>
            <p:cNvSpPr txBox="true"/>
            <p:nvPr/>
          </p:nvSpPr>
          <p:spPr>
            <a:xfrm>
              <a:off x="0" y="-47625"/>
              <a:ext cx="812800" cy="1164951"/>
            </a:xfrm>
            <a:prstGeom prst="rect">
              <a:avLst/>
            </a:prstGeom>
          </p:spPr>
          <p:txBody>
            <a:bodyPr anchor="ctr" rtlCol="false" tIns="50800" lIns="50800" bIns="50800" rIns="50800"/>
            <a:lstStyle/>
            <a:p>
              <a:pPr algn="ctr">
                <a:lnSpc>
                  <a:spcPts val="2939"/>
                </a:lnSpc>
              </a:pPr>
              <a:r>
                <a:rPr lang="en-US" sz="2099">
                  <a:solidFill>
                    <a:srgbClr val="000000"/>
                  </a:solidFill>
                  <a:latin typeface="Dekko"/>
                  <a:ea typeface="Dekko"/>
                  <a:cs typeface="Dekko"/>
                  <a:sym typeface="Dekko"/>
                </a:rPr>
                <a:t>Kam Qing Wen</a:t>
              </a:r>
            </a:p>
            <a:p>
              <a:pPr algn="ctr">
                <a:lnSpc>
                  <a:spcPts val="2939"/>
                </a:lnSpc>
              </a:pPr>
              <a:r>
                <a:rPr lang="en-US" sz="2099">
                  <a:solidFill>
                    <a:srgbClr val="000000"/>
                  </a:solidFill>
                  <a:latin typeface="Dekko"/>
                  <a:ea typeface="Dekko"/>
                  <a:cs typeface="Dekko"/>
                  <a:sym typeface="Dekko"/>
                </a:rPr>
                <a:t>2400897 | CN | P1</a:t>
              </a:r>
            </a:p>
            <a:p>
              <a:pPr algn="ctr">
                <a:lnSpc>
                  <a:spcPts val="2939"/>
                </a:lnSpc>
              </a:pPr>
              <a:r>
                <a:rPr lang="en-US" sz="2099">
                  <a:solidFill>
                    <a:srgbClr val="000000"/>
                  </a:solidFill>
                  <a:latin typeface="Dekko"/>
                  <a:ea typeface="Dekko"/>
                  <a:cs typeface="Dekko"/>
                  <a:sym typeface="Dekko"/>
                </a:rPr>
                <a:t>Web Pages Created: </a:t>
              </a:r>
            </a:p>
            <a:p>
              <a:pPr algn="ctr" marL="453388" indent="-226694" lvl="1">
                <a:lnSpc>
                  <a:spcPts val="2939"/>
                </a:lnSpc>
                <a:buFont typeface="Arial"/>
                <a:buChar char="•"/>
              </a:pPr>
              <a:r>
                <a:rPr lang="en-US" sz="2099">
                  <a:solidFill>
                    <a:srgbClr val="000000"/>
                  </a:solidFill>
                  <a:latin typeface="Dekko"/>
                  <a:ea typeface="Dekko"/>
                  <a:cs typeface="Dekko"/>
                  <a:sym typeface="Dekko"/>
                </a:rPr>
                <a:t>month.html</a:t>
              </a:r>
            </a:p>
            <a:p>
              <a:pPr algn="ctr" marL="453388" indent="-226694" lvl="1">
                <a:lnSpc>
                  <a:spcPts val="2939"/>
                </a:lnSpc>
                <a:buFont typeface="Arial"/>
                <a:buChar char="•"/>
              </a:pPr>
              <a:r>
                <a:rPr lang="en-US" sz="2099">
                  <a:solidFill>
                    <a:srgbClr val="000000"/>
                  </a:solidFill>
                  <a:latin typeface="Dekko"/>
                  <a:ea typeface="Dekko"/>
                  <a:cs typeface="Dekko"/>
                  <a:sym typeface="Dekko"/>
                </a:rPr>
                <a:t>style.css</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script.js</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cookies.html</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cookieScript.js</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cookieStyle.css</a:t>
              </a:r>
            </a:p>
            <a:p>
              <a:pPr algn="ctr">
                <a:lnSpc>
                  <a:spcPts val="2939"/>
                </a:lnSpc>
                <a:spcBef>
                  <a:spcPct val="0"/>
                </a:spcBef>
              </a:pPr>
            </a:p>
          </p:txBody>
        </p:sp>
      </p:grpSp>
      <p:grpSp>
        <p:nvGrpSpPr>
          <p:cNvPr name="Group 19" id="19"/>
          <p:cNvGrpSpPr/>
          <p:nvPr/>
        </p:nvGrpSpPr>
        <p:grpSpPr>
          <a:xfrm rot="0">
            <a:off x="9480245" y="4628504"/>
            <a:ext cx="2933700" cy="4277725"/>
            <a:chOff x="0" y="0"/>
            <a:chExt cx="772662" cy="1126644"/>
          </a:xfrm>
        </p:grpSpPr>
        <p:sp>
          <p:nvSpPr>
            <p:cNvPr name="Freeform 20" id="20"/>
            <p:cNvSpPr/>
            <p:nvPr/>
          </p:nvSpPr>
          <p:spPr>
            <a:xfrm flipH="false" flipV="false" rot="0">
              <a:off x="0" y="0"/>
              <a:ext cx="772662" cy="1126644"/>
            </a:xfrm>
            <a:custGeom>
              <a:avLst/>
              <a:gdLst/>
              <a:ahLst/>
              <a:cxnLst/>
              <a:rect r="r" b="b" t="t" l="l"/>
              <a:pathLst>
                <a:path h="1126644" w="772662">
                  <a:moveTo>
                    <a:pt x="134587" y="0"/>
                  </a:moveTo>
                  <a:lnTo>
                    <a:pt x="638075" y="0"/>
                  </a:lnTo>
                  <a:cubicBezTo>
                    <a:pt x="673769" y="0"/>
                    <a:pt x="708002" y="14180"/>
                    <a:pt x="733242" y="39420"/>
                  </a:cubicBezTo>
                  <a:cubicBezTo>
                    <a:pt x="758482" y="64660"/>
                    <a:pt x="772662" y="98892"/>
                    <a:pt x="772662" y="134587"/>
                  </a:cubicBezTo>
                  <a:lnTo>
                    <a:pt x="772662" y="992057"/>
                  </a:lnTo>
                  <a:cubicBezTo>
                    <a:pt x="772662" y="1066387"/>
                    <a:pt x="712405" y="1126644"/>
                    <a:pt x="638075" y="1126644"/>
                  </a:cubicBezTo>
                  <a:lnTo>
                    <a:pt x="134587" y="1126644"/>
                  </a:lnTo>
                  <a:cubicBezTo>
                    <a:pt x="60257" y="1126644"/>
                    <a:pt x="0" y="1066387"/>
                    <a:pt x="0" y="992057"/>
                  </a:cubicBezTo>
                  <a:lnTo>
                    <a:pt x="0" y="134587"/>
                  </a:lnTo>
                  <a:cubicBezTo>
                    <a:pt x="0" y="60257"/>
                    <a:pt x="60257" y="0"/>
                    <a:pt x="134587" y="0"/>
                  </a:cubicBezTo>
                  <a:close/>
                </a:path>
              </a:pathLst>
            </a:custGeom>
            <a:solidFill>
              <a:srgbClr val="BFBEE8"/>
            </a:solidFill>
          </p:spPr>
        </p:sp>
        <p:sp>
          <p:nvSpPr>
            <p:cNvPr name="TextBox 21" id="21"/>
            <p:cNvSpPr txBox="true"/>
            <p:nvPr/>
          </p:nvSpPr>
          <p:spPr>
            <a:xfrm>
              <a:off x="0" y="-47625"/>
              <a:ext cx="772662" cy="1174269"/>
            </a:xfrm>
            <a:prstGeom prst="rect">
              <a:avLst/>
            </a:prstGeom>
          </p:spPr>
          <p:txBody>
            <a:bodyPr anchor="ctr" rtlCol="false" tIns="50800" lIns="50800" bIns="50800" rIns="50800"/>
            <a:lstStyle/>
            <a:p>
              <a:pPr algn="ctr">
                <a:lnSpc>
                  <a:spcPts val="2939"/>
                </a:lnSpc>
              </a:pPr>
              <a:r>
                <a:rPr lang="en-US" sz="2099">
                  <a:solidFill>
                    <a:srgbClr val="000000"/>
                  </a:solidFill>
                  <a:latin typeface="Dekko"/>
                  <a:ea typeface="Dekko"/>
                  <a:cs typeface="Dekko"/>
                  <a:sym typeface="Dekko"/>
                </a:rPr>
                <a:t>Woo Kah Wei</a:t>
              </a:r>
            </a:p>
            <a:p>
              <a:pPr algn="ctr">
                <a:lnSpc>
                  <a:spcPts val="2939"/>
                </a:lnSpc>
              </a:pPr>
              <a:r>
                <a:rPr lang="en-US" sz="2099">
                  <a:solidFill>
                    <a:srgbClr val="000000"/>
                  </a:solidFill>
                  <a:latin typeface="Dekko"/>
                  <a:ea typeface="Dekko"/>
                  <a:cs typeface="Dekko"/>
                  <a:sym typeface="Dekko"/>
                </a:rPr>
                <a:t>2400696 | CN | P2</a:t>
              </a:r>
            </a:p>
            <a:p>
              <a:pPr algn="ctr">
                <a:lnSpc>
                  <a:spcPts val="2939"/>
                </a:lnSpc>
              </a:pPr>
              <a:r>
                <a:rPr lang="en-US" sz="2099">
                  <a:solidFill>
                    <a:srgbClr val="000000"/>
                  </a:solidFill>
                  <a:latin typeface="Dekko"/>
                  <a:ea typeface="Dekko"/>
                  <a:cs typeface="Dekko"/>
                  <a:sym typeface="Dekko"/>
                </a:rPr>
                <a:t>Web Pages Created: </a:t>
              </a:r>
            </a:p>
            <a:p>
              <a:pPr algn="ctr" marL="453388" indent="-226694" lvl="1">
                <a:lnSpc>
                  <a:spcPts val="2939"/>
                </a:lnSpc>
                <a:buFont typeface="Arial"/>
                <a:buChar char="•"/>
              </a:pPr>
              <a:r>
                <a:rPr lang="en-US" sz="2099">
                  <a:solidFill>
                    <a:srgbClr val="000000"/>
                  </a:solidFill>
                  <a:latin typeface="Dekko"/>
                  <a:ea typeface="Dekko"/>
                  <a:cs typeface="Dekko"/>
                  <a:sym typeface="Dekko"/>
                </a:rPr>
                <a:t>Africa.html</a:t>
              </a:r>
            </a:p>
            <a:p>
              <a:pPr algn="ctr" marL="453388" indent="-226694" lvl="1">
                <a:lnSpc>
                  <a:spcPts val="2939"/>
                </a:lnSpc>
                <a:buFont typeface="Arial"/>
                <a:buChar char="•"/>
              </a:pPr>
              <a:r>
                <a:rPr lang="en-US" sz="2099">
                  <a:solidFill>
                    <a:srgbClr val="000000"/>
                  </a:solidFill>
                  <a:latin typeface="Dekko"/>
                  <a:ea typeface="Dekko"/>
                  <a:cs typeface="Dekko"/>
                  <a:sym typeface="Dekko"/>
                </a:rPr>
                <a:t>NorthAmerica.html</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Antarctica.html</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Morocco.html</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USA.html</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Canada.html</a:t>
              </a:r>
            </a:p>
            <a:p>
              <a:pPr algn="ctr">
                <a:lnSpc>
                  <a:spcPts val="2939"/>
                </a:lnSpc>
                <a:spcBef>
                  <a:spcPct val="0"/>
                </a:spcBef>
              </a:pPr>
            </a:p>
            <a:p>
              <a:pPr algn="ctr">
                <a:lnSpc>
                  <a:spcPts val="2939"/>
                </a:lnSpc>
                <a:spcBef>
                  <a:spcPct val="0"/>
                </a:spcBef>
              </a:pPr>
            </a:p>
          </p:txBody>
        </p:sp>
      </p:grpSp>
      <p:grpSp>
        <p:nvGrpSpPr>
          <p:cNvPr name="Group 22" id="22"/>
          <p:cNvGrpSpPr/>
          <p:nvPr/>
        </p:nvGrpSpPr>
        <p:grpSpPr>
          <a:xfrm rot="0">
            <a:off x="5866300" y="4699221"/>
            <a:ext cx="3086100" cy="4242346"/>
            <a:chOff x="0" y="0"/>
            <a:chExt cx="812800" cy="1117326"/>
          </a:xfrm>
        </p:grpSpPr>
        <p:sp>
          <p:nvSpPr>
            <p:cNvPr name="Freeform 23" id="23"/>
            <p:cNvSpPr/>
            <p:nvPr/>
          </p:nvSpPr>
          <p:spPr>
            <a:xfrm flipH="false" flipV="false" rot="0">
              <a:off x="0" y="0"/>
              <a:ext cx="812800" cy="1117326"/>
            </a:xfrm>
            <a:custGeom>
              <a:avLst/>
              <a:gdLst/>
              <a:ahLst/>
              <a:cxnLst/>
              <a:rect r="r" b="b" t="t" l="l"/>
              <a:pathLst>
                <a:path h="1117326" w="812800">
                  <a:moveTo>
                    <a:pt x="127941" y="0"/>
                  </a:moveTo>
                  <a:lnTo>
                    <a:pt x="684859" y="0"/>
                  </a:lnTo>
                  <a:cubicBezTo>
                    <a:pt x="718791" y="0"/>
                    <a:pt x="751333" y="13479"/>
                    <a:pt x="775327" y="37473"/>
                  </a:cubicBezTo>
                  <a:cubicBezTo>
                    <a:pt x="799321" y="61467"/>
                    <a:pt x="812800" y="94009"/>
                    <a:pt x="812800" y="127941"/>
                  </a:cubicBezTo>
                  <a:lnTo>
                    <a:pt x="812800" y="989385"/>
                  </a:lnTo>
                  <a:cubicBezTo>
                    <a:pt x="812800" y="1023317"/>
                    <a:pt x="799321" y="1055859"/>
                    <a:pt x="775327" y="1079853"/>
                  </a:cubicBezTo>
                  <a:cubicBezTo>
                    <a:pt x="751333" y="1103846"/>
                    <a:pt x="718791" y="1117326"/>
                    <a:pt x="684859" y="1117326"/>
                  </a:cubicBezTo>
                  <a:lnTo>
                    <a:pt x="127941" y="1117326"/>
                  </a:lnTo>
                  <a:cubicBezTo>
                    <a:pt x="94009" y="1117326"/>
                    <a:pt x="61467" y="1103846"/>
                    <a:pt x="37473" y="1079853"/>
                  </a:cubicBezTo>
                  <a:cubicBezTo>
                    <a:pt x="13479" y="1055859"/>
                    <a:pt x="0" y="1023317"/>
                    <a:pt x="0" y="989385"/>
                  </a:cubicBezTo>
                  <a:lnTo>
                    <a:pt x="0" y="127941"/>
                  </a:lnTo>
                  <a:cubicBezTo>
                    <a:pt x="0" y="94009"/>
                    <a:pt x="13479" y="61467"/>
                    <a:pt x="37473" y="37473"/>
                  </a:cubicBezTo>
                  <a:cubicBezTo>
                    <a:pt x="61467" y="13479"/>
                    <a:pt x="94009" y="0"/>
                    <a:pt x="127941" y="0"/>
                  </a:cubicBezTo>
                  <a:close/>
                </a:path>
              </a:pathLst>
            </a:custGeom>
            <a:solidFill>
              <a:srgbClr val="BFBEE8"/>
            </a:solidFill>
          </p:spPr>
        </p:sp>
        <p:sp>
          <p:nvSpPr>
            <p:cNvPr name="TextBox 24" id="24"/>
            <p:cNvSpPr txBox="true"/>
            <p:nvPr/>
          </p:nvSpPr>
          <p:spPr>
            <a:xfrm>
              <a:off x="0" y="-47625"/>
              <a:ext cx="812800" cy="1164951"/>
            </a:xfrm>
            <a:prstGeom prst="rect">
              <a:avLst/>
            </a:prstGeom>
          </p:spPr>
          <p:txBody>
            <a:bodyPr anchor="ctr" rtlCol="false" tIns="50800" lIns="50800" bIns="50800" rIns="50800"/>
            <a:lstStyle/>
            <a:p>
              <a:pPr algn="ctr">
                <a:lnSpc>
                  <a:spcPts val="2939"/>
                </a:lnSpc>
              </a:pPr>
              <a:r>
                <a:rPr lang="en-US" sz="2099">
                  <a:solidFill>
                    <a:srgbClr val="000000"/>
                  </a:solidFill>
                  <a:latin typeface="Dekko"/>
                  <a:ea typeface="Dekko"/>
                  <a:cs typeface="Dekko"/>
                  <a:sym typeface="Dekko"/>
                </a:rPr>
                <a:t>Fong Jing Xiang  </a:t>
              </a:r>
            </a:p>
            <a:p>
              <a:pPr algn="ctr">
                <a:lnSpc>
                  <a:spcPts val="2939"/>
                </a:lnSpc>
              </a:pPr>
              <a:r>
                <a:rPr lang="en-US" sz="2099">
                  <a:solidFill>
                    <a:srgbClr val="000000"/>
                  </a:solidFill>
                  <a:latin typeface="Dekko"/>
                  <a:ea typeface="Dekko"/>
                  <a:cs typeface="Dekko"/>
                  <a:sym typeface="Dekko"/>
                </a:rPr>
                <a:t>2302663| CN | P2</a:t>
              </a:r>
            </a:p>
            <a:p>
              <a:pPr algn="ctr">
                <a:lnSpc>
                  <a:spcPts val="2939"/>
                </a:lnSpc>
              </a:pPr>
              <a:r>
                <a:rPr lang="en-US" sz="2099">
                  <a:solidFill>
                    <a:srgbClr val="000000"/>
                  </a:solidFill>
                  <a:latin typeface="Dekko"/>
                  <a:ea typeface="Dekko"/>
                  <a:cs typeface="Dekko"/>
                  <a:sym typeface="Dekko"/>
                </a:rPr>
                <a:t>Web Pages Created: </a:t>
              </a:r>
            </a:p>
            <a:p>
              <a:pPr algn="ctr" marL="453388" indent="-226694" lvl="1">
                <a:lnSpc>
                  <a:spcPts val="2939"/>
                </a:lnSpc>
                <a:buFont typeface="Arial"/>
                <a:buChar char="•"/>
              </a:pPr>
              <a:r>
                <a:rPr lang="en-US" sz="2099">
                  <a:solidFill>
                    <a:srgbClr val="000000"/>
                  </a:solidFill>
                  <a:latin typeface="Dekko"/>
                  <a:ea typeface="Dekko"/>
                  <a:cs typeface="Dekko"/>
                  <a:sym typeface="Dekko"/>
                </a:rPr>
                <a:t>Asia.html</a:t>
              </a:r>
            </a:p>
            <a:p>
              <a:pPr algn="ctr" marL="453388" indent="-226694" lvl="1">
                <a:lnSpc>
                  <a:spcPts val="2939"/>
                </a:lnSpc>
                <a:buFont typeface="Arial"/>
                <a:buChar char="•"/>
              </a:pPr>
              <a:r>
                <a:rPr lang="en-US" sz="2099">
                  <a:solidFill>
                    <a:srgbClr val="000000"/>
                  </a:solidFill>
                  <a:latin typeface="Dekko"/>
                  <a:ea typeface="Dekko"/>
                  <a:cs typeface="Dekko"/>
                  <a:sym typeface="Dekko"/>
                </a:rPr>
                <a:t>Europe.html</a:t>
              </a:r>
            </a:p>
            <a:p>
              <a:pPr algn="ctr" marL="453388" indent="-226694" lvl="1">
                <a:lnSpc>
                  <a:spcPts val="2939"/>
                </a:lnSpc>
                <a:buFont typeface="Arial"/>
                <a:buChar char="•"/>
              </a:pPr>
              <a:r>
                <a:rPr lang="en-US" sz="2099">
                  <a:solidFill>
                    <a:srgbClr val="000000"/>
                  </a:solidFill>
                  <a:latin typeface="Dekko"/>
                  <a:ea typeface="Dekko"/>
                  <a:cs typeface="Dekko"/>
                  <a:sym typeface="Dekko"/>
                </a:rPr>
                <a:t>SouthAmerica.html</a:t>
              </a:r>
            </a:p>
            <a:p>
              <a:pPr algn="ctr" marL="453388" indent="-226694" lvl="1">
                <a:lnSpc>
                  <a:spcPts val="2939"/>
                </a:lnSpc>
                <a:buFont typeface="Arial"/>
                <a:buChar char="•"/>
              </a:pPr>
              <a:r>
                <a:rPr lang="en-US" sz="2099">
                  <a:solidFill>
                    <a:srgbClr val="000000"/>
                  </a:solidFill>
                  <a:latin typeface="Dekko"/>
                  <a:ea typeface="Dekko"/>
                  <a:cs typeface="Dekko"/>
                  <a:sym typeface="Dekko"/>
                </a:rPr>
                <a:t>Oceania.html</a:t>
              </a:r>
            </a:p>
            <a:p>
              <a:pPr algn="ctr" marL="453388" indent="-226694" lvl="1">
                <a:lnSpc>
                  <a:spcPts val="2939"/>
                </a:lnSpc>
                <a:buFont typeface="Arial"/>
                <a:buChar char="•"/>
              </a:pPr>
              <a:r>
                <a:rPr lang="en-US" sz="2099">
                  <a:solidFill>
                    <a:srgbClr val="000000"/>
                  </a:solidFill>
                  <a:latin typeface="Dekko"/>
                  <a:ea typeface="Dekko"/>
                  <a:cs typeface="Dekko"/>
                  <a:sym typeface="Dekko"/>
                </a:rPr>
                <a:t>China.html</a:t>
              </a:r>
            </a:p>
            <a:p>
              <a:pPr algn="ctr" marL="453388" indent="-226694" lvl="1">
                <a:lnSpc>
                  <a:spcPts val="2939"/>
                </a:lnSpc>
                <a:spcBef>
                  <a:spcPct val="0"/>
                </a:spcBef>
                <a:buFont typeface="Arial"/>
                <a:buChar char="•"/>
              </a:pPr>
              <a:r>
                <a:rPr lang="en-US" sz="2099">
                  <a:solidFill>
                    <a:srgbClr val="000000"/>
                  </a:solidFill>
                  <a:latin typeface="Dekko"/>
                  <a:ea typeface="Dekko"/>
                  <a:cs typeface="Dekko"/>
                  <a:sym typeface="Dekko"/>
                </a:rPr>
                <a:t>Japan.html</a:t>
              </a:r>
            </a:p>
            <a:p>
              <a:pPr algn="ctr">
                <a:lnSpc>
                  <a:spcPts val="2939"/>
                </a:lnSpc>
                <a:spcBef>
                  <a:spcPct val="0"/>
                </a:spcBef>
              </a:pPr>
            </a:p>
          </p:txBody>
        </p:sp>
      </p:grpSp>
      <p:grpSp>
        <p:nvGrpSpPr>
          <p:cNvPr name="Group 25" id="25"/>
          <p:cNvGrpSpPr/>
          <p:nvPr/>
        </p:nvGrpSpPr>
        <p:grpSpPr>
          <a:xfrm rot="0">
            <a:off x="9903433" y="2541180"/>
            <a:ext cx="2087325" cy="2087325"/>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8"/>
              <a:stretch>
                <a:fillRect l="-6377" t="0" r="-6377" b="0"/>
              </a:stretch>
            </a:blipFill>
          </p:spPr>
        </p:sp>
      </p:grpSp>
      <p:grpSp>
        <p:nvGrpSpPr>
          <p:cNvPr name="Group 27" id="27"/>
          <p:cNvGrpSpPr/>
          <p:nvPr/>
        </p:nvGrpSpPr>
        <p:grpSpPr>
          <a:xfrm rot="0">
            <a:off x="13219909" y="2071849"/>
            <a:ext cx="2627371" cy="262737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9"/>
              <a:stretch>
                <a:fillRect l="0" t="-11823" r="0" b="-11823"/>
              </a:stretch>
            </a:blipFill>
          </p:spPr>
        </p:sp>
      </p:grpSp>
      <p:grpSp>
        <p:nvGrpSpPr>
          <p:cNvPr name="Group 29" id="29"/>
          <p:cNvGrpSpPr/>
          <p:nvPr/>
        </p:nvGrpSpPr>
        <p:grpSpPr>
          <a:xfrm rot="0">
            <a:off x="6279297" y="2269108"/>
            <a:ext cx="2186538" cy="2430113"/>
            <a:chOff x="0" y="0"/>
            <a:chExt cx="909650" cy="1010983"/>
          </a:xfrm>
        </p:grpSpPr>
        <p:sp>
          <p:nvSpPr>
            <p:cNvPr name="Freeform 30" id="30"/>
            <p:cNvSpPr/>
            <p:nvPr/>
          </p:nvSpPr>
          <p:spPr>
            <a:xfrm flipH="false" flipV="false" rot="0">
              <a:off x="0" y="0"/>
              <a:ext cx="909650" cy="1010983"/>
            </a:xfrm>
            <a:custGeom>
              <a:avLst/>
              <a:gdLst/>
              <a:ahLst/>
              <a:cxnLst/>
              <a:rect r="r" b="b" t="t" l="l"/>
              <a:pathLst>
                <a:path h="1010983" w="909650">
                  <a:moveTo>
                    <a:pt x="454825" y="0"/>
                  </a:moveTo>
                  <a:cubicBezTo>
                    <a:pt x="203632" y="0"/>
                    <a:pt x="0" y="226316"/>
                    <a:pt x="0" y="505491"/>
                  </a:cubicBezTo>
                  <a:cubicBezTo>
                    <a:pt x="0" y="784666"/>
                    <a:pt x="203632" y="1010983"/>
                    <a:pt x="454825" y="1010983"/>
                  </a:cubicBezTo>
                  <a:cubicBezTo>
                    <a:pt x="706018" y="1010983"/>
                    <a:pt x="909650" y="784666"/>
                    <a:pt x="909650" y="505491"/>
                  </a:cubicBezTo>
                  <a:cubicBezTo>
                    <a:pt x="909650" y="226316"/>
                    <a:pt x="706018" y="0"/>
                    <a:pt x="454825" y="0"/>
                  </a:cubicBezTo>
                  <a:close/>
                </a:path>
              </a:pathLst>
            </a:custGeom>
            <a:blipFill>
              <a:blip r:embed="rId20"/>
              <a:stretch>
                <a:fillRect l="-16023" t="0" r="-16023" b="0"/>
              </a:stretch>
            </a:blipFill>
          </p:spPr>
        </p:sp>
      </p:grpSp>
      <p:grpSp>
        <p:nvGrpSpPr>
          <p:cNvPr name="Group 31" id="31"/>
          <p:cNvGrpSpPr/>
          <p:nvPr/>
        </p:nvGrpSpPr>
        <p:grpSpPr>
          <a:xfrm rot="0">
            <a:off x="2784528" y="2597192"/>
            <a:ext cx="2158041" cy="215804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1"/>
              <a:stretch>
                <a:fillRect l="0" t="-7916" r="0" b="-7916"/>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6381483">
            <a:off x="-4869834" y="4550007"/>
            <a:ext cx="7814999" cy="12245725"/>
          </a:xfrm>
          <a:custGeom>
            <a:avLst/>
            <a:gdLst/>
            <a:ahLst/>
            <a:cxnLst/>
            <a:rect r="r" b="b" t="t" l="l"/>
            <a:pathLst>
              <a:path h="12245725" w="7814999">
                <a:moveTo>
                  <a:pt x="0" y="0"/>
                </a:moveTo>
                <a:lnTo>
                  <a:pt x="7814999" y="0"/>
                </a:lnTo>
                <a:lnTo>
                  <a:pt x="7814999"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457531">
            <a:off x="1417465" y="7936608"/>
            <a:ext cx="1602407" cy="1787901"/>
          </a:xfrm>
          <a:custGeom>
            <a:avLst/>
            <a:gdLst/>
            <a:ahLst/>
            <a:cxnLst/>
            <a:rect r="r" b="b" t="t" l="l"/>
            <a:pathLst>
              <a:path h="1787901" w="1602407">
                <a:moveTo>
                  <a:pt x="0" y="0"/>
                </a:moveTo>
                <a:lnTo>
                  <a:pt x="1602407" y="0"/>
                </a:lnTo>
                <a:lnTo>
                  <a:pt x="1602407" y="1787901"/>
                </a:lnTo>
                <a:lnTo>
                  <a:pt x="0" y="17879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849820">
            <a:off x="14848576" y="7605376"/>
            <a:ext cx="1792971" cy="3071470"/>
          </a:xfrm>
          <a:custGeom>
            <a:avLst/>
            <a:gdLst/>
            <a:ahLst/>
            <a:cxnLst/>
            <a:rect r="r" b="b" t="t" l="l"/>
            <a:pathLst>
              <a:path h="3071470" w="1792971">
                <a:moveTo>
                  <a:pt x="0" y="0"/>
                </a:moveTo>
                <a:lnTo>
                  <a:pt x="1792970" y="0"/>
                </a:lnTo>
                <a:lnTo>
                  <a:pt x="1792970" y="3071471"/>
                </a:lnTo>
                <a:lnTo>
                  <a:pt x="0" y="30714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717538" y="486716"/>
            <a:ext cx="10591286" cy="1274468"/>
          </a:xfrm>
          <a:prstGeom prst="rect">
            <a:avLst/>
          </a:prstGeom>
        </p:spPr>
        <p:txBody>
          <a:bodyPr anchor="t" rtlCol="false" tIns="0" lIns="0" bIns="0" rIns="0">
            <a:spAutoFit/>
          </a:bodyPr>
          <a:lstStyle/>
          <a:p>
            <a:pPr algn="l">
              <a:lnSpc>
                <a:spcPts val="9634"/>
              </a:lnSpc>
            </a:pPr>
            <a:r>
              <a:rPr lang="en-US" sz="9634">
                <a:solidFill>
                  <a:srgbClr val="B5838D"/>
                </a:solidFill>
                <a:latin typeface="Wedges"/>
                <a:ea typeface="Wedges"/>
                <a:cs typeface="Wedges"/>
                <a:sym typeface="Wedges"/>
              </a:rPr>
              <a:t>Introduction</a:t>
            </a:r>
          </a:p>
        </p:txBody>
      </p:sp>
      <p:sp>
        <p:nvSpPr>
          <p:cNvPr name="TextBox 8" id="8"/>
          <p:cNvSpPr txBox="true"/>
          <p:nvPr/>
        </p:nvSpPr>
        <p:spPr>
          <a:xfrm rot="0">
            <a:off x="789536" y="1988229"/>
            <a:ext cx="11126658" cy="5971540"/>
          </a:xfrm>
          <a:prstGeom prst="rect">
            <a:avLst/>
          </a:prstGeom>
        </p:spPr>
        <p:txBody>
          <a:bodyPr anchor="t" rtlCol="false" tIns="0" lIns="0" bIns="0" rIns="0">
            <a:spAutoFit/>
          </a:bodyPr>
          <a:lstStyle/>
          <a:p>
            <a:pPr algn="l">
              <a:lnSpc>
                <a:spcPts val="4759"/>
              </a:lnSpc>
            </a:pPr>
            <a:r>
              <a:rPr lang="en-US" sz="3399">
                <a:solidFill>
                  <a:srgbClr val="805A62"/>
                </a:solidFill>
                <a:latin typeface="Dekko"/>
                <a:ea typeface="Dekko"/>
                <a:cs typeface="Dekko"/>
                <a:sym typeface="Dekko"/>
              </a:rPr>
              <a:t>Background of the Study</a:t>
            </a:r>
          </a:p>
          <a:p>
            <a:pPr algn="l" marL="734059" indent="-367030" lvl="1">
              <a:lnSpc>
                <a:spcPts val="4759"/>
              </a:lnSpc>
              <a:buFont typeface="Arial"/>
              <a:buChar char="•"/>
            </a:pPr>
            <a:r>
              <a:rPr lang="en-US" sz="3399">
                <a:solidFill>
                  <a:srgbClr val="805A62"/>
                </a:solidFill>
                <a:latin typeface="Dekko"/>
                <a:ea typeface="Dekko"/>
                <a:cs typeface="Dekko"/>
                <a:sym typeface="Dekko"/>
              </a:rPr>
              <a:t>In recent years, a growing number of people are pursuing travel as a way to explore diverse cultures, cuisines, and traditions.</a:t>
            </a:r>
          </a:p>
          <a:p>
            <a:pPr algn="l" marL="734059" indent="-367030" lvl="1">
              <a:lnSpc>
                <a:spcPts val="4759"/>
              </a:lnSpc>
              <a:buFont typeface="Arial"/>
              <a:buChar char="•"/>
            </a:pPr>
            <a:r>
              <a:rPr lang="en-US" sz="3399">
                <a:solidFill>
                  <a:srgbClr val="805A62"/>
                </a:solidFill>
                <a:latin typeface="Dekko"/>
                <a:ea typeface="Dekko"/>
                <a:cs typeface="Dekko"/>
                <a:sym typeface="Dekko"/>
              </a:rPr>
              <a:t>Planning a trip involves careful coordination of destinations, accommodation, and transport to ensure a fulfilling experience.</a:t>
            </a:r>
          </a:p>
          <a:p>
            <a:pPr algn="l" marL="734059" indent="-367030" lvl="1">
              <a:lnSpc>
                <a:spcPts val="4759"/>
              </a:lnSpc>
              <a:buFont typeface="Arial"/>
              <a:buChar char="•"/>
            </a:pPr>
            <a:r>
              <a:rPr lang="en-US" sz="3399">
                <a:solidFill>
                  <a:srgbClr val="805A62"/>
                </a:solidFill>
                <a:latin typeface="Dekko"/>
                <a:ea typeface="Dekko"/>
                <a:cs typeface="Dekko"/>
                <a:sym typeface="Dekko"/>
              </a:rPr>
              <a:t>The internet has become a vital tool for travel planning, offering a vast amount of information to curious travelers.</a:t>
            </a:r>
          </a:p>
          <a:p>
            <a:pPr algn="l">
              <a:lnSpc>
                <a:spcPts val="4759"/>
              </a:lnSpc>
            </a:pPr>
          </a:p>
        </p:txBody>
      </p:sp>
      <p:sp>
        <p:nvSpPr>
          <p:cNvPr name="Freeform 9" id="9"/>
          <p:cNvSpPr/>
          <p:nvPr/>
        </p:nvSpPr>
        <p:spPr>
          <a:xfrm flipH="false" flipV="false" rot="0">
            <a:off x="-4817094" y="1504333"/>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0" id="10"/>
          <p:cNvGrpSpPr/>
          <p:nvPr/>
        </p:nvGrpSpPr>
        <p:grpSpPr>
          <a:xfrm rot="0">
            <a:off x="12374590" y="2915621"/>
            <a:ext cx="5478892" cy="5352079"/>
            <a:chOff x="0" y="0"/>
            <a:chExt cx="4828540" cy="4716780"/>
          </a:xfrm>
        </p:grpSpPr>
        <p:sp>
          <p:nvSpPr>
            <p:cNvPr name="Freeform 11" id="11"/>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80"/>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10" y="97790"/>
                    <a:pt x="4030980" y="97790"/>
                    <a:pt x="4119880" y="113030"/>
                  </a:cubicBezTo>
                  <a:cubicBezTo>
                    <a:pt x="4173220" y="121920"/>
                    <a:pt x="4227830" y="138430"/>
                    <a:pt x="4273550" y="165100"/>
                  </a:cubicBezTo>
                  <a:cubicBezTo>
                    <a:pt x="4323080" y="193040"/>
                    <a:pt x="4361180" y="238760"/>
                    <a:pt x="4405630" y="276860"/>
                  </a:cubicBezTo>
                  <a:cubicBezTo>
                    <a:pt x="4422140"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0" y="4281170"/>
                    <a:pt x="4535170" y="4335780"/>
                    <a:pt x="4491990" y="4382770"/>
                  </a:cubicBezTo>
                  <a:cubicBezTo>
                    <a:pt x="4453890" y="4424680"/>
                    <a:pt x="4411980" y="4466590"/>
                    <a:pt x="4345940" y="4467860"/>
                  </a:cubicBezTo>
                  <a:cubicBezTo>
                    <a:pt x="4330700" y="4467860"/>
                    <a:pt x="4316730" y="4483100"/>
                    <a:pt x="4301490" y="4490720"/>
                  </a:cubicBezTo>
                  <a:cubicBezTo>
                    <a:pt x="4236720" y="4518660"/>
                    <a:pt x="4169410" y="4542790"/>
                    <a:pt x="4105910" y="4573270"/>
                  </a:cubicBezTo>
                  <a:cubicBezTo>
                    <a:pt x="3989070" y="4629150"/>
                    <a:pt x="3863340" y="4638040"/>
                    <a:pt x="3737610" y="4643120"/>
                  </a:cubicBezTo>
                  <a:cubicBezTo>
                    <a:pt x="3689350" y="4645660"/>
                    <a:pt x="3639820" y="4641850"/>
                    <a:pt x="3591560" y="4645660"/>
                  </a:cubicBezTo>
                  <a:cubicBezTo>
                    <a:pt x="3567430" y="4646930"/>
                    <a:pt x="3544570" y="4658360"/>
                    <a:pt x="3521710" y="4663440"/>
                  </a:cubicBezTo>
                  <a:cubicBezTo>
                    <a:pt x="3511550" y="4665980"/>
                    <a:pt x="3501390" y="4664710"/>
                    <a:pt x="3489960" y="4665980"/>
                  </a:cubicBezTo>
                  <a:cubicBezTo>
                    <a:pt x="3474720" y="4667250"/>
                    <a:pt x="3459480" y="4671060"/>
                    <a:pt x="3444240" y="4669790"/>
                  </a:cubicBezTo>
                  <a:cubicBezTo>
                    <a:pt x="3429000" y="4667250"/>
                    <a:pt x="3418840" y="4662170"/>
                    <a:pt x="3416300" y="4662170"/>
                  </a:cubicBezTo>
                  <a:close/>
                </a:path>
              </a:pathLst>
            </a:custGeom>
            <a:blipFill>
              <a:blip r:embed="rId14"/>
              <a:stretch>
                <a:fillRect l="-23271" t="0" r="-23271" b="0"/>
              </a:stretch>
            </a:blipFill>
          </p:spPr>
        </p:sp>
      </p:grpSp>
      <p:sp>
        <p:nvSpPr>
          <p:cNvPr name="Freeform 12" id="12"/>
          <p:cNvSpPr/>
          <p:nvPr/>
        </p:nvSpPr>
        <p:spPr>
          <a:xfrm flipH="false" flipV="false" rot="0">
            <a:off x="13972144" y="-2359308"/>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true" rot="0">
            <a:off x="9473128" y="8267700"/>
            <a:ext cx="5802923" cy="4114800"/>
          </a:xfrm>
          <a:custGeom>
            <a:avLst/>
            <a:gdLst/>
            <a:ahLst/>
            <a:cxnLst/>
            <a:rect r="r" b="b" t="t" l="l"/>
            <a:pathLst>
              <a:path h="4114800" w="5802923">
                <a:moveTo>
                  <a:pt x="5802923" y="4114800"/>
                </a:moveTo>
                <a:lnTo>
                  <a:pt x="0" y="4114800"/>
                </a:lnTo>
                <a:lnTo>
                  <a:pt x="0" y="0"/>
                </a:lnTo>
                <a:lnTo>
                  <a:pt x="5802923" y="0"/>
                </a:lnTo>
                <a:lnTo>
                  <a:pt x="5802923"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14885908" y="110506"/>
            <a:ext cx="3402092" cy="917577"/>
          </a:xfrm>
          <a:prstGeom prst="rect">
            <a:avLst/>
          </a:prstGeom>
        </p:spPr>
        <p:txBody>
          <a:bodyPr anchor="t" rtlCol="false" tIns="0" lIns="0" bIns="0" rIns="0">
            <a:spAutoFit/>
          </a:bodyPr>
          <a:lstStyle/>
          <a:p>
            <a:pPr algn="ctr">
              <a:lnSpc>
                <a:spcPts val="3500"/>
              </a:lnSpc>
              <a:spcBef>
                <a:spcPct val="0"/>
              </a:spcBef>
            </a:pPr>
            <a:r>
              <a:rPr lang="en-US" sz="3500">
                <a:solidFill>
                  <a:srgbClr val="000000"/>
                </a:solidFill>
                <a:latin typeface="Canva Student Font"/>
                <a:ea typeface="Canva Student Font"/>
                <a:cs typeface="Canva Student Font"/>
                <a:sym typeface="Canva Student Font"/>
              </a:rPr>
              <a:t>By: Fong Jing Xiang 2302663</a:t>
            </a:r>
          </a:p>
        </p:txBody>
      </p:sp>
      <p:grpSp>
        <p:nvGrpSpPr>
          <p:cNvPr name="Group 15" id="15"/>
          <p:cNvGrpSpPr/>
          <p:nvPr/>
        </p:nvGrpSpPr>
        <p:grpSpPr>
          <a:xfrm rot="0">
            <a:off x="13143204" y="296216"/>
            <a:ext cx="1970831" cy="2190377"/>
            <a:chOff x="0" y="0"/>
            <a:chExt cx="909650" cy="1010983"/>
          </a:xfrm>
        </p:grpSpPr>
        <p:sp>
          <p:nvSpPr>
            <p:cNvPr name="Freeform 16" id="16"/>
            <p:cNvSpPr/>
            <p:nvPr/>
          </p:nvSpPr>
          <p:spPr>
            <a:xfrm flipH="false" flipV="false" rot="0">
              <a:off x="0" y="0"/>
              <a:ext cx="909650" cy="1010983"/>
            </a:xfrm>
            <a:custGeom>
              <a:avLst/>
              <a:gdLst/>
              <a:ahLst/>
              <a:cxnLst/>
              <a:rect r="r" b="b" t="t" l="l"/>
              <a:pathLst>
                <a:path h="1010983" w="909650">
                  <a:moveTo>
                    <a:pt x="454825" y="0"/>
                  </a:moveTo>
                  <a:cubicBezTo>
                    <a:pt x="203632" y="0"/>
                    <a:pt x="0" y="226316"/>
                    <a:pt x="0" y="505491"/>
                  </a:cubicBezTo>
                  <a:cubicBezTo>
                    <a:pt x="0" y="784666"/>
                    <a:pt x="203632" y="1010983"/>
                    <a:pt x="454825" y="1010983"/>
                  </a:cubicBezTo>
                  <a:cubicBezTo>
                    <a:pt x="706018" y="1010983"/>
                    <a:pt x="909650" y="784666"/>
                    <a:pt x="909650" y="505491"/>
                  </a:cubicBezTo>
                  <a:cubicBezTo>
                    <a:pt x="909650" y="226316"/>
                    <a:pt x="706018" y="0"/>
                    <a:pt x="454825" y="0"/>
                  </a:cubicBezTo>
                  <a:close/>
                </a:path>
              </a:pathLst>
            </a:custGeom>
            <a:blipFill>
              <a:blip r:embed="rId15"/>
              <a:stretch>
                <a:fillRect l="-16023" t="0" r="-16023"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6381483">
            <a:off x="-4869834" y="4550007"/>
            <a:ext cx="7814999" cy="12245725"/>
          </a:xfrm>
          <a:custGeom>
            <a:avLst/>
            <a:gdLst/>
            <a:ahLst/>
            <a:cxnLst/>
            <a:rect r="r" b="b" t="t" l="l"/>
            <a:pathLst>
              <a:path h="12245725" w="7814999">
                <a:moveTo>
                  <a:pt x="0" y="0"/>
                </a:moveTo>
                <a:lnTo>
                  <a:pt x="7814999" y="0"/>
                </a:lnTo>
                <a:lnTo>
                  <a:pt x="7814999"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457531">
            <a:off x="1417465" y="7936608"/>
            <a:ext cx="1602407" cy="1787901"/>
          </a:xfrm>
          <a:custGeom>
            <a:avLst/>
            <a:gdLst/>
            <a:ahLst/>
            <a:cxnLst/>
            <a:rect r="r" b="b" t="t" l="l"/>
            <a:pathLst>
              <a:path h="1787901" w="1602407">
                <a:moveTo>
                  <a:pt x="0" y="0"/>
                </a:moveTo>
                <a:lnTo>
                  <a:pt x="1602407" y="0"/>
                </a:lnTo>
                <a:lnTo>
                  <a:pt x="1602407" y="1787901"/>
                </a:lnTo>
                <a:lnTo>
                  <a:pt x="0" y="17879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849820">
            <a:off x="14049078" y="7941235"/>
            <a:ext cx="1792971" cy="3071470"/>
          </a:xfrm>
          <a:custGeom>
            <a:avLst/>
            <a:gdLst/>
            <a:ahLst/>
            <a:cxnLst/>
            <a:rect r="r" b="b" t="t" l="l"/>
            <a:pathLst>
              <a:path h="3071470" w="1792971">
                <a:moveTo>
                  <a:pt x="0" y="0"/>
                </a:moveTo>
                <a:lnTo>
                  <a:pt x="1792971" y="0"/>
                </a:lnTo>
                <a:lnTo>
                  <a:pt x="1792971" y="3071471"/>
                </a:lnTo>
                <a:lnTo>
                  <a:pt x="0" y="30714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28700" y="1151908"/>
            <a:ext cx="8679457" cy="809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Problem description</a:t>
            </a:r>
          </a:p>
        </p:txBody>
      </p:sp>
      <p:sp>
        <p:nvSpPr>
          <p:cNvPr name="TextBox 8" id="8"/>
          <p:cNvSpPr txBox="true"/>
          <p:nvPr/>
        </p:nvSpPr>
        <p:spPr>
          <a:xfrm rot="0">
            <a:off x="1028700" y="2515410"/>
            <a:ext cx="16273471" cy="5802630"/>
          </a:xfrm>
          <a:prstGeom prst="rect">
            <a:avLst/>
          </a:prstGeom>
        </p:spPr>
        <p:txBody>
          <a:bodyPr anchor="t" rtlCol="false" tIns="0" lIns="0" bIns="0" rIns="0">
            <a:spAutoFit/>
          </a:bodyPr>
          <a:lstStyle/>
          <a:p>
            <a:pPr algn="l" marL="712470" indent="-356235" lvl="1">
              <a:lnSpc>
                <a:spcPts val="4620"/>
              </a:lnSpc>
              <a:buFont typeface="Arial"/>
              <a:buChar char="•"/>
            </a:pPr>
            <a:r>
              <a:rPr lang="en-US" sz="3300">
                <a:solidFill>
                  <a:srgbClr val="805A62"/>
                </a:solidFill>
                <a:latin typeface="Dekko"/>
                <a:ea typeface="Dekko"/>
                <a:cs typeface="Dekko"/>
                <a:sym typeface="Dekko"/>
              </a:rPr>
              <a:t>❌ Poor Categorization by City</a:t>
            </a:r>
          </a:p>
          <a:p>
            <a:pPr algn="l" marL="712470" indent="-356235" lvl="1">
              <a:lnSpc>
                <a:spcPts val="4620"/>
              </a:lnSpc>
              <a:buFont typeface="Arial"/>
              <a:buChar char="•"/>
            </a:pPr>
            <a:r>
              <a:rPr lang="en-US" sz="3300">
                <a:solidFill>
                  <a:srgbClr val="805A62"/>
                </a:solidFill>
                <a:latin typeface="Dekko"/>
                <a:ea typeface="Dekko"/>
                <a:cs typeface="Dekko"/>
                <a:sym typeface="Dekko"/>
              </a:rPr>
              <a:t> Most sites list all destinations together, making it difficult for users to filter by specific cities.</a:t>
            </a:r>
          </a:p>
          <a:p>
            <a:pPr algn="l" marL="712470" indent="-356235" lvl="1">
              <a:lnSpc>
                <a:spcPts val="4620"/>
              </a:lnSpc>
              <a:buFont typeface="Arial"/>
              <a:buChar char="•"/>
            </a:pPr>
            <a:r>
              <a:rPr lang="en-US" sz="3300">
                <a:solidFill>
                  <a:srgbClr val="805A62"/>
                </a:solidFill>
                <a:latin typeface="Dekko"/>
                <a:ea typeface="Dekko"/>
                <a:cs typeface="Dekko"/>
                <a:sym typeface="Dekko"/>
              </a:rPr>
              <a:t>🕒 Time-Consuming Navigation</a:t>
            </a:r>
          </a:p>
          <a:p>
            <a:pPr algn="l" marL="712470" indent="-356235" lvl="1">
              <a:lnSpc>
                <a:spcPts val="4620"/>
              </a:lnSpc>
              <a:buFont typeface="Arial"/>
              <a:buChar char="•"/>
            </a:pPr>
            <a:r>
              <a:rPr lang="en-US" sz="3300">
                <a:solidFill>
                  <a:srgbClr val="805A62"/>
                </a:solidFill>
                <a:latin typeface="Dekko"/>
                <a:ea typeface="Dekko"/>
                <a:cs typeface="Dekko"/>
                <a:sym typeface="Dekko"/>
              </a:rPr>
              <a:t> Users struggle to find relevant information quickly due to lengthy and unorganized listings.</a:t>
            </a:r>
          </a:p>
          <a:p>
            <a:pPr algn="l" marL="712470" indent="-356235" lvl="1">
              <a:lnSpc>
                <a:spcPts val="4620"/>
              </a:lnSpc>
              <a:buFont typeface="Arial"/>
              <a:buChar char="•"/>
            </a:pPr>
            <a:r>
              <a:rPr lang="en-US" sz="3300">
                <a:solidFill>
                  <a:srgbClr val="805A62"/>
                </a:solidFill>
                <a:latin typeface="Dekko"/>
                <a:ea typeface="Dekko"/>
                <a:cs typeface="Dekko"/>
                <a:sym typeface="Dekko"/>
              </a:rPr>
              <a:t>🎨 O</a:t>
            </a:r>
            <a:r>
              <a:rPr lang="en-US" sz="3300">
                <a:solidFill>
                  <a:srgbClr val="805A62"/>
                </a:solidFill>
                <a:latin typeface="Dekko"/>
                <a:ea typeface="Dekko"/>
                <a:cs typeface="Dekko"/>
                <a:sym typeface="Dekko"/>
              </a:rPr>
              <a:t>utdated Interfaces</a:t>
            </a:r>
          </a:p>
          <a:p>
            <a:pPr algn="l" marL="712470" indent="-356235" lvl="1">
              <a:lnSpc>
                <a:spcPts val="4620"/>
              </a:lnSpc>
              <a:buFont typeface="Arial"/>
              <a:buChar char="•"/>
            </a:pPr>
            <a:r>
              <a:rPr lang="en-US" sz="3300">
                <a:solidFill>
                  <a:srgbClr val="805A62"/>
                </a:solidFill>
                <a:latin typeface="Dekko"/>
                <a:ea typeface="Dekko"/>
                <a:cs typeface="Dekko"/>
                <a:sym typeface="Dekko"/>
              </a:rPr>
              <a:t> Many websites lack modern design, leading to poor user engagement and visual experience.</a:t>
            </a:r>
          </a:p>
          <a:p>
            <a:pPr algn="l" marL="712470" indent="-356235" lvl="1">
              <a:lnSpc>
                <a:spcPts val="4620"/>
              </a:lnSpc>
              <a:buFont typeface="Arial"/>
              <a:buChar char="•"/>
            </a:pPr>
            <a:r>
              <a:rPr lang="en-US" sz="3300">
                <a:solidFill>
                  <a:srgbClr val="805A62"/>
                </a:solidFill>
                <a:latin typeface="Dekko"/>
                <a:ea typeface="Dekko"/>
                <a:cs typeface="Dekko"/>
                <a:sym typeface="Dekko"/>
              </a:rPr>
              <a:t>📅 Non-Real-Time Updates</a:t>
            </a:r>
          </a:p>
          <a:p>
            <a:pPr algn="l" marL="712470" indent="-356235" lvl="1">
              <a:lnSpc>
                <a:spcPts val="4620"/>
              </a:lnSpc>
              <a:buFont typeface="Arial"/>
              <a:buChar char="•"/>
            </a:pPr>
            <a:r>
              <a:rPr lang="en-US" sz="3300">
                <a:solidFill>
                  <a:srgbClr val="805A62"/>
                </a:solidFill>
                <a:latin typeface="Dekko"/>
                <a:ea typeface="Dekko"/>
                <a:cs typeface="Dekko"/>
                <a:sym typeface="Dekko"/>
              </a:rPr>
              <a:t> Travel content is often outdated, providing inaccurate or irrelevant information to users.</a:t>
            </a:r>
          </a:p>
          <a:p>
            <a:pPr algn="l">
              <a:lnSpc>
                <a:spcPts val="4620"/>
              </a:lnSpc>
            </a:pPr>
          </a:p>
        </p:txBody>
      </p:sp>
      <p:sp>
        <p:nvSpPr>
          <p:cNvPr name="Freeform 9" id="9"/>
          <p:cNvSpPr/>
          <p:nvPr/>
        </p:nvSpPr>
        <p:spPr>
          <a:xfrm flipH="false" flipV="false" rot="0">
            <a:off x="-4817094" y="1504333"/>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3972144" y="-2359308"/>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true" rot="0">
            <a:off x="8085824" y="8559863"/>
            <a:ext cx="5802923" cy="4114800"/>
          </a:xfrm>
          <a:custGeom>
            <a:avLst/>
            <a:gdLst/>
            <a:ahLst/>
            <a:cxnLst/>
            <a:rect r="r" b="b" t="t" l="l"/>
            <a:pathLst>
              <a:path h="4114800" w="5802923">
                <a:moveTo>
                  <a:pt x="5802923" y="4114800"/>
                </a:moveTo>
                <a:lnTo>
                  <a:pt x="0" y="4114800"/>
                </a:lnTo>
                <a:lnTo>
                  <a:pt x="0" y="0"/>
                </a:lnTo>
                <a:lnTo>
                  <a:pt x="5802923" y="0"/>
                </a:lnTo>
                <a:lnTo>
                  <a:pt x="5802923"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2" id="12"/>
          <p:cNvSpPr txBox="true"/>
          <p:nvPr/>
        </p:nvSpPr>
        <p:spPr>
          <a:xfrm rot="0">
            <a:off x="14885908" y="110506"/>
            <a:ext cx="3402092" cy="917577"/>
          </a:xfrm>
          <a:prstGeom prst="rect">
            <a:avLst/>
          </a:prstGeom>
        </p:spPr>
        <p:txBody>
          <a:bodyPr anchor="t" rtlCol="false" tIns="0" lIns="0" bIns="0" rIns="0">
            <a:spAutoFit/>
          </a:bodyPr>
          <a:lstStyle/>
          <a:p>
            <a:pPr algn="ctr">
              <a:lnSpc>
                <a:spcPts val="3500"/>
              </a:lnSpc>
              <a:spcBef>
                <a:spcPct val="0"/>
              </a:spcBef>
            </a:pPr>
            <a:r>
              <a:rPr lang="en-US" sz="3500">
                <a:solidFill>
                  <a:srgbClr val="000000"/>
                </a:solidFill>
                <a:latin typeface="Canva Student Font"/>
                <a:ea typeface="Canva Student Font"/>
                <a:cs typeface="Canva Student Font"/>
                <a:sym typeface="Canva Student Font"/>
              </a:rPr>
              <a:t>By: Fong Jing Xiang 2302663</a:t>
            </a:r>
          </a:p>
        </p:txBody>
      </p:sp>
      <p:grpSp>
        <p:nvGrpSpPr>
          <p:cNvPr name="Group 13" id="13"/>
          <p:cNvGrpSpPr/>
          <p:nvPr/>
        </p:nvGrpSpPr>
        <p:grpSpPr>
          <a:xfrm rot="0">
            <a:off x="12941638" y="301006"/>
            <a:ext cx="2061012" cy="2290604"/>
            <a:chOff x="0" y="0"/>
            <a:chExt cx="909650" cy="1010983"/>
          </a:xfrm>
        </p:grpSpPr>
        <p:sp>
          <p:nvSpPr>
            <p:cNvPr name="Freeform 14" id="14"/>
            <p:cNvSpPr/>
            <p:nvPr/>
          </p:nvSpPr>
          <p:spPr>
            <a:xfrm flipH="false" flipV="false" rot="0">
              <a:off x="0" y="0"/>
              <a:ext cx="909650" cy="1010983"/>
            </a:xfrm>
            <a:custGeom>
              <a:avLst/>
              <a:gdLst/>
              <a:ahLst/>
              <a:cxnLst/>
              <a:rect r="r" b="b" t="t" l="l"/>
              <a:pathLst>
                <a:path h="1010983" w="909650">
                  <a:moveTo>
                    <a:pt x="454825" y="0"/>
                  </a:moveTo>
                  <a:cubicBezTo>
                    <a:pt x="203632" y="0"/>
                    <a:pt x="0" y="226316"/>
                    <a:pt x="0" y="505491"/>
                  </a:cubicBezTo>
                  <a:cubicBezTo>
                    <a:pt x="0" y="784666"/>
                    <a:pt x="203632" y="1010983"/>
                    <a:pt x="454825" y="1010983"/>
                  </a:cubicBezTo>
                  <a:cubicBezTo>
                    <a:pt x="706018" y="1010983"/>
                    <a:pt x="909650" y="784666"/>
                    <a:pt x="909650" y="505491"/>
                  </a:cubicBezTo>
                  <a:cubicBezTo>
                    <a:pt x="909650" y="226316"/>
                    <a:pt x="706018" y="0"/>
                    <a:pt x="454825" y="0"/>
                  </a:cubicBezTo>
                  <a:close/>
                </a:path>
              </a:pathLst>
            </a:custGeom>
            <a:blipFill>
              <a:blip r:embed="rId14"/>
              <a:stretch>
                <a:fillRect l="-16023" t="0" r="-16023"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6381483">
            <a:off x="-4869834" y="4550007"/>
            <a:ext cx="7814999" cy="12245725"/>
          </a:xfrm>
          <a:custGeom>
            <a:avLst/>
            <a:gdLst/>
            <a:ahLst/>
            <a:cxnLst/>
            <a:rect r="r" b="b" t="t" l="l"/>
            <a:pathLst>
              <a:path h="12245725" w="7814999">
                <a:moveTo>
                  <a:pt x="0" y="0"/>
                </a:moveTo>
                <a:lnTo>
                  <a:pt x="7814999" y="0"/>
                </a:lnTo>
                <a:lnTo>
                  <a:pt x="7814999"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457531">
            <a:off x="1417465" y="7936608"/>
            <a:ext cx="1602407" cy="1787901"/>
          </a:xfrm>
          <a:custGeom>
            <a:avLst/>
            <a:gdLst/>
            <a:ahLst/>
            <a:cxnLst/>
            <a:rect r="r" b="b" t="t" l="l"/>
            <a:pathLst>
              <a:path h="1787901" w="1602407">
                <a:moveTo>
                  <a:pt x="0" y="0"/>
                </a:moveTo>
                <a:lnTo>
                  <a:pt x="1602407" y="0"/>
                </a:lnTo>
                <a:lnTo>
                  <a:pt x="1602407" y="1787901"/>
                </a:lnTo>
                <a:lnTo>
                  <a:pt x="0" y="17879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849820">
            <a:off x="14049078" y="7941235"/>
            <a:ext cx="1792971" cy="3071470"/>
          </a:xfrm>
          <a:custGeom>
            <a:avLst/>
            <a:gdLst/>
            <a:ahLst/>
            <a:cxnLst/>
            <a:rect r="r" b="b" t="t" l="l"/>
            <a:pathLst>
              <a:path h="3071470" w="1792971">
                <a:moveTo>
                  <a:pt x="0" y="0"/>
                </a:moveTo>
                <a:lnTo>
                  <a:pt x="1792971" y="0"/>
                </a:lnTo>
                <a:lnTo>
                  <a:pt x="1792971" y="3071471"/>
                </a:lnTo>
                <a:lnTo>
                  <a:pt x="0" y="30714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985829" y="694708"/>
            <a:ext cx="10591286" cy="809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target Audience</a:t>
            </a:r>
          </a:p>
        </p:txBody>
      </p:sp>
      <p:sp>
        <p:nvSpPr>
          <p:cNvPr name="TextBox 8" id="8"/>
          <p:cNvSpPr txBox="true"/>
          <p:nvPr/>
        </p:nvSpPr>
        <p:spPr>
          <a:xfrm rot="0">
            <a:off x="361324" y="2365393"/>
            <a:ext cx="16610997" cy="2316480"/>
          </a:xfrm>
          <a:prstGeom prst="rect">
            <a:avLst/>
          </a:prstGeom>
        </p:spPr>
        <p:txBody>
          <a:bodyPr anchor="t" rtlCol="false" tIns="0" lIns="0" bIns="0" rIns="0">
            <a:spAutoFit/>
          </a:bodyPr>
          <a:lstStyle/>
          <a:p>
            <a:pPr algn="l" marL="712470" indent="-356235" lvl="1">
              <a:lnSpc>
                <a:spcPts val="4620"/>
              </a:lnSpc>
              <a:buFont typeface="Arial"/>
              <a:buChar char="•"/>
            </a:pPr>
            <a:r>
              <a:rPr lang="en-US" sz="3300">
                <a:solidFill>
                  <a:srgbClr val="805A62"/>
                </a:solidFill>
                <a:latin typeface="Dekko"/>
                <a:ea typeface="Dekko"/>
                <a:cs typeface="Dekko"/>
                <a:sym typeface="Dekko"/>
              </a:rPr>
              <a:t>✈️ Frequent Travelers – People who regularly explore different cities or countries.</a:t>
            </a:r>
          </a:p>
          <a:p>
            <a:pPr algn="l" marL="712470" indent="-356235" lvl="1">
              <a:lnSpc>
                <a:spcPts val="4620"/>
              </a:lnSpc>
              <a:buFont typeface="Arial"/>
              <a:buChar char="•"/>
            </a:pPr>
            <a:r>
              <a:rPr lang="en-US" sz="3300">
                <a:solidFill>
                  <a:srgbClr val="805A62"/>
                </a:solidFill>
                <a:latin typeface="Dekko"/>
                <a:ea typeface="Dekko"/>
                <a:cs typeface="Dekko"/>
                <a:sym typeface="Dekko"/>
              </a:rPr>
              <a:t>🌍 Tourists – Casual or first-time visitors looking for cultural and scenic experiences.</a:t>
            </a:r>
          </a:p>
          <a:p>
            <a:pPr algn="l" marL="712470" indent="-356235" lvl="1">
              <a:lnSpc>
                <a:spcPts val="4620"/>
              </a:lnSpc>
              <a:buFont typeface="Arial"/>
              <a:buChar char="•"/>
            </a:pPr>
            <a:r>
              <a:rPr lang="en-US" sz="3300">
                <a:solidFill>
                  <a:srgbClr val="805A62"/>
                </a:solidFill>
                <a:latin typeface="Dekko"/>
                <a:ea typeface="Dekko"/>
                <a:cs typeface="Dekko"/>
                <a:sym typeface="Dekko"/>
              </a:rPr>
              <a:t>🏖️ Vacation Planners – Anyone organizing a leisure holiday or quick getaway.</a:t>
            </a:r>
          </a:p>
          <a:p>
            <a:pPr algn="l">
              <a:lnSpc>
                <a:spcPts val="4620"/>
              </a:lnSpc>
            </a:pPr>
          </a:p>
        </p:txBody>
      </p:sp>
      <p:sp>
        <p:nvSpPr>
          <p:cNvPr name="Freeform 9" id="9"/>
          <p:cNvSpPr/>
          <p:nvPr/>
        </p:nvSpPr>
        <p:spPr>
          <a:xfrm flipH="false" flipV="false" rot="0">
            <a:off x="-4817094" y="1504333"/>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3972144" y="-2359308"/>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true" rot="0">
            <a:off x="8085824" y="8559863"/>
            <a:ext cx="5802923" cy="4114800"/>
          </a:xfrm>
          <a:custGeom>
            <a:avLst/>
            <a:gdLst/>
            <a:ahLst/>
            <a:cxnLst/>
            <a:rect r="r" b="b" t="t" l="l"/>
            <a:pathLst>
              <a:path h="4114800" w="5802923">
                <a:moveTo>
                  <a:pt x="5802923" y="4114800"/>
                </a:moveTo>
                <a:lnTo>
                  <a:pt x="0" y="4114800"/>
                </a:lnTo>
                <a:lnTo>
                  <a:pt x="0" y="0"/>
                </a:lnTo>
                <a:lnTo>
                  <a:pt x="5802923" y="0"/>
                </a:lnTo>
                <a:lnTo>
                  <a:pt x="5802923"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2" id="12"/>
          <p:cNvSpPr txBox="true"/>
          <p:nvPr/>
        </p:nvSpPr>
        <p:spPr>
          <a:xfrm rot="0">
            <a:off x="985829" y="4333875"/>
            <a:ext cx="10591286" cy="809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goals and significant</a:t>
            </a:r>
          </a:p>
        </p:txBody>
      </p:sp>
      <p:sp>
        <p:nvSpPr>
          <p:cNvPr name="TextBox 13" id="13"/>
          <p:cNvSpPr txBox="true"/>
          <p:nvPr/>
        </p:nvSpPr>
        <p:spPr>
          <a:xfrm rot="0">
            <a:off x="717538" y="5306570"/>
            <a:ext cx="16610997" cy="4640580"/>
          </a:xfrm>
          <a:prstGeom prst="rect">
            <a:avLst/>
          </a:prstGeom>
        </p:spPr>
        <p:txBody>
          <a:bodyPr anchor="t" rtlCol="false" tIns="0" lIns="0" bIns="0" rIns="0">
            <a:spAutoFit/>
          </a:bodyPr>
          <a:lstStyle/>
          <a:p>
            <a:pPr algn="l" marL="712470" indent="-356235" lvl="1">
              <a:lnSpc>
                <a:spcPts val="4620"/>
              </a:lnSpc>
              <a:buFont typeface="Arial"/>
              <a:buChar char="•"/>
            </a:pPr>
            <a:r>
              <a:rPr lang="en-US" sz="3300">
                <a:solidFill>
                  <a:srgbClr val="805A62"/>
                </a:solidFill>
                <a:latin typeface="Dekko"/>
                <a:ea typeface="Dekko"/>
                <a:cs typeface="Dekko"/>
                <a:sym typeface="Dekko"/>
              </a:rPr>
              <a:t>📍 Centralize Travel Information</a:t>
            </a:r>
          </a:p>
          <a:p>
            <a:pPr algn="l">
              <a:lnSpc>
                <a:spcPts val="4620"/>
              </a:lnSpc>
            </a:pPr>
            <a:r>
              <a:rPr lang="en-US" sz="3300">
                <a:solidFill>
                  <a:srgbClr val="805A62"/>
                </a:solidFill>
                <a:latin typeface="Dekko"/>
                <a:ea typeface="Dekko"/>
                <a:cs typeface="Dekko"/>
                <a:sym typeface="Dekko"/>
              </a:rPr>
              <a:t> Integrate attraction-based data and user reviews in one place to reduce the need for multiple sources.</a:t>
            </a:r>
          </a:p>
          <a:p>
            <a:pPr algn="l" marL="712470" indent="-356235" lvl="1">
              <a:lnSpc>
                <a:spcPts val="4620"/>
              </a:lnSpc>
              <a:buFont typeface="Arial"/>
              <a:buChar char="•"/>
            </a:pPr>
            <a:r>
              <a:rPr lang="en-US" sz="3300">
                <a:solidFill>
                  <a:srgbClr val="805A62"/>
                </a:solidFill>
                <a:latin typeface="Dekko"/>
                <a:ea typeface="Dekko"/>
                <a:cs typeface="Dekko"/>
                <a:sym typeface="Dekko"/>
              </a:rPr>
              <a:t>🏙️ City-Wise Categorization</a:t>
            </a:r>
          </a:p>
          <a:p>
            <a:pPr algn="l">
              <a:lnSpc>
                <a:spcPts val="4620"/>
              </a:lnSpc>
            </a:pPr>
            <a:r>
              <a:rPr lang="en-US" sz="3300">
                <a:solidFill>
                  <a:srgbClr val="805A62"/>
                </a:solidFill>
                <a:latin typeface="Dekko"/>
                <a:ea typeface="Dekko"/>
                <a:cs typeface="Dekko"/>
                <a:sym typeface="Dekko"/>
              </a:rPr>
              <a:t> Organize attractions by city to enhance navigation and reduce information overload.</a:t>
            </a:r>
          </a:p>
          <a:p>
            <a:pPr algn="l" marL="712470" indent="-356235" lvl="1">
              <a:lnSpc>
                <a:spcPts val="4620"/>
              </a:lnSpc>
              <a:buFont typeface="Arial"/>
              <a:buChar char="•"/>
            </a:pPr>
            <a:r>
              <a:rPr lang="en-US" sz="3300">
                <a:solidFill>
                  <a:srgbClr val="805A62"/>
                </a:solidFill>
                <a:latin typeface="Dekko"/>
                <a:ea typeface="Dekko"/>
                <a:cs typeface="Dekko"/>
                <a:sym typeface="Dekko"/>
              </a:rPr>
              <a:t>Encourages smooth and engaging trip planning</a:t>
            </a:r>
          </a:p>
          <a:p>
            <a:pPr algn="l" marL="712470" indent="-356235" lvl="1">
              <a:lnSpc>
                <a:spcPts val="4620"/>
              </a:lnSpc>
              <a:buFont typeface="Arial"/>
              <a:buChar char="•"/>
            </a:pPr>
            <a:r>
              <a:rPr lang="en-US" sz="3300">
                <a:solidFill>
                  <a:srgbClr val="805A62"/>
                </a:solidFill>
                <a:latin typeface="Dekko"/>
                <a:ea typeface="Dekko"/>
                <a:cs typeface="Dekko"/>
                <a:sym typeface="Dekko"/>
              </a:rPr>
              <a:t>Promotes discovery through well-organized, reliable information</a:t>
            </a:r>
          </a:p>
          <a:p>
            <a:pPr algn="l">
              <a:lnSpc>
                <a:spcPts val="4620"/>
              </a:lnSpc>
            </a:pPr>
          </a:p>
        </p:txBody>
      </p:sp>
      <p:sp>
        <p:nvSpPr>
          <p:cNvPr name="TextBox 14" id="14"/>
          <p:cNvSpPr txBox="true"/>
          <p:nvPr/>
        </p:nvSpPr>
        <p:spPr>
          <a:xfrm rot="0">
            <a:off x="14885908" y="110506"/>
            <a:ext cx="3402092" cy="917577"/>
          </a:xfrm>
          <a:prstGeom prst="rect">
            <a:avLst/>
          </a:prstGeom>
        </p:spPr>
        <p:txBody>
          <a:bodyPr anchor="t" rtlCol="false" tIns="0" lIns="0" bIns="0" rIns="0">
            <a:spAutoFit/>
          </a:bodyPr>
          <a:lstStyle/>
          <a:p>
            <a:pPr algn="ctr">
              <a:lnSpc>
                <a:spcPts val="3500"/>
              </a:lnSpc>
              <a:spcBef>
                <a:spcPct val="0"/>
              </a:spcBef>
            </a:pPr>
            <a:r>
              <a:rPr lang="en-US" sz="3500">
                <a:solidFill>
                  <a:srgbClr val="000000"/>
                </a:solidFill>
                <a:latin typeface="Canva Student Font"/>
                <a:ea typeface="Canva Student Font"/>
                <a:cs typeface="Canva Student Font"/>
                <a:sym typeface="Canva Student Font"/>
              </a:rPr>
              <a:t>By: Fong Jing Xiang 2302663</a:t>
            </a:r>
          </a:p>
        </p:txBody>
      </p:sp>
      <p:grpSp>
        <p:nvGrpSpPr>
          <p:cNvPr name="Group 15" id="15"/>
          <p:cNvGrpSpPr/>
          <p:nvPr/>
        </p:nvGrpSpPr>
        <p:grpSpPr>
          <a:xfrm rot="0">
            <a:off x="12931492" y="181200"/>
            <a:ext cx="1914509" cy="2127781"/>
            <a:chOff x="0" y="0"/>
            <a:chExt cx="909650" cy="1010983"/>
          </a:xfrm>
        </p:grpSpPr>
        <p:sp>
          <p:nvSpPr>
            <p:cNvPr name="Freeform 16" id="16"/>
            <p:cNvSpPr/>
            <p:nvPr/>
          </p:nvSpPr>
          <p:spPr>
            <a:xfrm flipH="false" flipV="false" rot="0">
              <a:off x="0" y="0"/>
              <a:ext cx="909650" cy="1010983"/>
            </a:xfrm>
            <a:custGeom>
              <a:avLst/>
              <a:gdLst/>
              <a:ahLst/>
              <a:cxnLst/>
              <a:rect r="r" b="b" t="t" l="l"/>
              <a:pathLst>
                <a:path h="1010983" w="909650">
                  <a:moveTo>
                    <a:pt x="454825" y="0"/>
                  </a:moveTo>
                  <a:cubicBezTo>
                    <a:pt x="203632" y="0"/>
                    <a:pt x="0" y="226316"/>
                    <a:pt x="0" y="505491"/>
                  </a:cubicBezTo>
                  <a:cubicBezTo>
                    <a:pt x="0" y="784666"/>
                    <a:pt x="203632" y="1010983"/>
                    <a:pt x="454825" y="1010983"/>
                  </a:cubicBezTo>
                  <a:cubicBezTo>
                    <a:pt x="706018" y="1010983"/>
                    <a:pt x="909650" y="784666"/>
                    <a:pt x="909650" y="505491"/>
                  </a:cubicBezTo>
                  <a:cubicBezTo>
                    <a:pt x="909650" y="226316"/>
                    <a:pt x="706018" y="0"/>
                    <a:pt x="454825" y="0"/>
                  </a:cubicBezTo>
                  <a:close/>
                </a:path>
              </a:pathLst>
            </a:custGeom>
            <a:blipFill>
              <a:blip r:embed="rId14"/>
              <a:stretch>
                <a:fillRect l="-16023" t="0" r="-16023"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TextBox 2" id="2"/>
          <p:cNvSpPr txBox="true"/>
          <p:nvPr/>
        </p:nvSpPr>
        <p:spPr>
          <a:xfrm rot="0">
            <a:off x="717538" y="694708"/>
            <a:ext cx="10591286" cy="1571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literature review: </a:t>
            </a:r>
            <a:r>
              <a:rPr lang="en-US" sz="6000">
                <a:solidFill>
                  <a:srgbClr val="BFBEE8"/>
                </a:solidFill>
                <a:latin typeface="Wedges"/>
                <a:ea typeface="Wedges"/>
                <a:cs typeface="Wedges"/>
                <a:sym typeface="Wedges"/>
              </a:rPr>
              <a:t>lonely planet</a:t>
            </a:r>
          </a:p>
        </p:txBody>
      </p:sp>
      <p:sp>
        <p:nvSpPr>
          <p:cNvPr name="TextBox 3" id="3"/>
          <p:cNvSpPr txBox="true"/>
          <p:nvPr/>
        </p:nvSpPr>
        <p:spPr>
          <a:xfrm rot="0">
            <a:off x="717538" y="2190133"/>
            <a:ext cx="16610997" cy="3478530"/>
          </a:xfrm>
          <a:prstGeom prst="rect">
            <a:avLst/>
          </a:prstGeom>
        </p:spPr>
        <p:txBody>
          <a:bodyPr anchor="t" rtlCol="false" tIns="0" lIns="0" bIns="0" rIns="0">
            <a:spAutoFit/>
          </a:bodyPr>
          <a:lstStyle/>
          <a:p>
            <a:pPr algn="l">
              <a:lnSpc>
                <a:spcPts val="4620"/>
              </a:lnSpc>
            </a:pPr>
            <a:r>
              <a:rPr lang="en-US" sz="3300">
                <a:solidFill>
                  <a:srgbClr val="805A62"/>
                </a:solidFill>
                <a:latin typeface="Dekko"/>
                <a:ea typeface="Dekko"/>
                <a:cs typeface="Dekko"/>
                <a:sym typeface="Dekko"/>
              </a:rPr>
              <a:t>✔️ Advantages</a:t>
            </a:r>
          </a:p>
          <a:p>
            <a:pPr algn="l" marL="712470" indent="-356235" lvl="1">
              <a:lnSpc>
                <a:spcPts val="4620"/>
              </a:lnSpc>
              <a:buFont typeface="Arial"/>
              <a:buChar char="•"/>
            </a:pPr>
            <a:r>
              <a:rPr lang="en-US" sz="3300">
                <a:solidFill>
                  <a:srgbClr val="805A62"/>
                </a:solidFill>
                <a:latin typeface="Dekko"/>
                <a:ea typeface="Dekko"/>
                <a:cs typeface="Dekko"/>
                <a:sym typeface="Dekko"/>
              </a:rPr>
              <a:t>✅ Detailed Destination Guides - Covers nearly every country, city, and region with extensive travel information.</a:t>
            </a:r>
          </a:p>
          <a:p>
            <a:pPr algn="l" marL="712470" indent="-356235" lvl="1">
              <a:lnSpc>
                <a:spcPts val="4620"/>
              </a:lnSpc>
              <a:buFont typeface="Arial"/>
              <a:buChar char="•"/>
            </a:pPr>
            <a:r>
              <a:rPr lang="en-US" sz="3300">
                <a:solidFill>
                  <a:srgbClr val="805A62"/>
                </a:solidFill>
                <a:latin typeface="Dekko"/>
                <a:ea typeface="Dekko"/>
                <a:cs typeface="Dekko"/>
                <a:sym typeface="Dekko"/>
              </a:rPr>
              <a:t>🗺️ Interactive Maps &amp; Planning Tools - Helps users organize trips more efficiently.</a:t>
            </a:r>
          </a:p>
          <a:p>
            <a:pPr algn="l" marL="712470" indent="-356235" lvl="1">
              <a:lnSpc>
                <a:spcPts val="4620"/>
              </a:lnSpc>
              <a:buFont typeface="Arial"/>
              <a:buChar char="•"/>
            </a:pPr>
            <a:r>
              <a:rPr lang="en-US" sz="3300">
                <a:solidFill>
                  <a:srgbClr val="805A62"/>
                </a:solidFill>
                <a:latin typeface="Dekko"/>
                <a:ea typeface="Dekko"/>
                <a:cs typeface="Dekko"/>
                <a:sym typeface="Dekko"/>
              </a:rPr>
              <a:t>👥 User Contributions - Travelers can share personal reviews and tips for added authenticity.</a:t>
            </a:r>
          </a:p>
          <a:p>
            <a:pPr algn="l">
              <a:lnSpc>
                <a:spcPts val="4620"/>
              </a:lnSpc>
            </a:pPr>
          </a:p>
        </p:txBody>
      </p:sp>
      <p:sp>
        <p:nvSpPr>
          <p:cNvPr name="TextBox 4" id="4"/>
          <p:cNvSpPr txBox="true"/>
          <p:nvPr/>
        </p:nvSpPr>
        <p:spPr>
          <a:xfrm rot="0">
            <a:off x="648303" y="5364564"/>
            <a:ext cx="8495697" cy="4640580"/>
          </a:xfrm>
          <a:prstGeom prst="rect">
            <a:avLst/>
          </a:prstGeom>
        </p:spPr>
        <p:txBody>
          <a:bodyPr anchor="t" rtlCol="false" tIns="0" lIns="0" bIns="0" rIns="0">
            <a:spAutoFit/>
          </a:bodyPr>
          <a:lstStyle/>
          <a:p>
            <a:pPr algn="l">
              <a:lnSpc>
                <a:spcPts val="4620"/>
              </a:lnSpc>
            </a:pPr>
            <a:r>
              <a:rPr lang="en-US" sz="3300">
                <a:solidFill>
                  <a:srgbClr val="805A62"/>
                </a:solidFill>
                <a:latin typeface="Dekko"/>
                <a:ea typeface="Dekko"/>
                <a:cs typeface="Dekko"/>
                <a:sym typeface="Dekko"/>
              </a:rPr>
              <a:t>⚠️ Disadvantages</a:t>
            </a:r>
          </a:p>
          <a:p>
            <a:pPr algn="l" marL="712470" indent="-356235" lvl="1">
              <a:lnSpc>
                <a:spcPts val="4620"/>
              </a:lnSpc>
              <a:buFont typeface="Arial"/>
              <a:buChar char="•"/>
            </a:pPr>
            <a:r>
              <a:rPr lang="en-US" sz="3300">
                <a:solidFill>
                  <a:srgbClr val="805A62"/>
                </a:solidFill>
                <a:latin typeface="Dekko"/>
                <a:ea typeface="Dekko"/>
                <a:cs typeface="Dekko"/>
                <a:sym typeface="Dekko"/>
              </a:rPr>
              <a:t>💰 Paywalled Content - Some content requires purchase or subscription to access full guides.</a:t>
            </a:r>
          </a:p>
          <a:p>
            <a:pPr algn="l" marL="712470" indent="-356235" lvl="1">
              <a:lnSpc>
                <a:spcPts val="4620"/>
              </a:lnSpc>
              <a:buFont typeface="Arial"/>
              <a:buChar char="•"/>
            </a:pPr>
            <a:r>
              <a:rPr lang="en-US" sz="3300">
                <a:solidFill>
                  <a:srgbClr val="805A62"/>
                </a:solidFill>
                <a:latin typeface="Dekko"/>
                <a:ea typeface="Dekko"/>
                <a:cs typeface="Dekko"/>
                <a:sym typeface="Dekko"/>
              </a:rPr>
              <a:t>📚 Overwhelming for New Users - Abundance of information can make it hard to navigate for beginners.</a:t>
            </a:r>
          </a:p>
          <a:p>
            <a:pPr algn="l">
              <a:lnSpc>
                <a:spcPts val="4620"/>
              </a:lnSpc>
            </a:pPr>
          </a:p>
        </p:txBody>
      </p:sp>
      <p:sp>
        <p:nvSpPr>
          <p:cNvPr name="TextBox 5" id="5"/>
          <p:cNvSpPr txBox="true"/>
          <p:nvPr/>
        </p:nvSpPr>
        <p:spPr>
          <a:xfrm rot="0">
            <a:off x="9144000" y="5364564"/>
            <a:ext cx="8495697" cy="4640580"/>
          </a:xfrm>
          <a:prstGeom prst="rect">
            <a:avLst/>
          </a:prstGeom>
        </p:spPr>
        <p:txBody>
          <a:bodyPr anchor="t" rtlCol="false" tIns="0" lIns="0" bIns="0" rIns="0">
            <a:spAutoFit/>
          </a:bodyPr>
          <a:lstStyle/>
          <a:p>
            <a:pPr algn="l">
              <a:lnSpc>
                <a:spcPts val="4620"/>
              </a:lnSpc>
            </a:pPr>
            <a:r>
              <a:rPr lang="en-US" sz="3300">
                <a:solidFill>
                  <a:srgbClr val="805A62"/>
                </a:solidFill>
                <a:latin typeface="Dekko"/>
                <a:ea typeface="Dekko"/>
                <a:cs typeface="Dekko"/>
                <a:sym typeface="Dekko"/>
              </a:rPr>
              <a:t>🚫 Limitations</a:t>
            </a:r>
          </a:p>
          <a:p>
            <a:pPr algn="l" marL="712470" indent="-356235" lvl="1">
              <a:lnSpc>
                <a:spcPts val="4620"/>
              </a:lnSpc>
              <a:buFont typeface="Arial"/>
              <a:buChar char="•"/>
            </a:pPr>
            <a:r>
              <a:rPr lang="en-US" sz="3300">
                <a:solidFill>
                  <a:srgbClr val="805A62"/>
                </a:solidFill>
                <a:latin typeface="Dekko"/>
                <a:ea typeface="Dekko"/>
                <a:cs typeface="Dekko"/>
                <a:sym typeface="Dekko"/>
              </a:rPr>
              <a:t>🌐 Limited Multilingual Support</a:t>
            </a:r>
          </a:p>
          <a:p>
            <a:pPr algn="l" marL="712470" indent="-356235" lvl="1">
              <a:lnSpc>
                <a:spcPts val="4620"/>
              </a:lnSpc>
              <a:buFont typeface="Arial"/>
              <a:buChar char="•"/>
            </a:pPr>
            <a:r>
              <a:rPr lang="en-US" sz="3300">
                <a:solidFill>
                  <a:srgbClr val="805A62"/>
                </a:solidFill>
                <a:latin typeface="Dekko"/>
                <a:ea typeface="Dekko"/>
                <a:cs typeface="Dekko"/>
                <a:sym typeface="Dekko"/>
              </a:rPr>
              <a:t> Mostly available in English, making it less inclusi</a:t>
            </a:r>
            <a:r>
              <a:rPr lang="en-US" sz="3300">
                <a:solidFill>
                  <a:srgbClr val="805A62"/>
                </a:solidFill>
                <a:latin typeface="Dekko"/>
                <a:ea typeface="Dekko"/>
                <a:cs typeface="Dekko"/>
                <a:sym typeface="Dekko"/>
              </a:rPr>
              <a:t>ve for non-English speakers.</a:t>
            </a:r>
          </a:p>
          <a:p>
            <a:pPr algn="l" marL="712470" indent="-356235" lvl="1">
              <a:lnSpc>
                <a:spcPts val="4620"/>
              </a:lnSpc>
              <a:buFont typeface="Arial"/>
              <a:buChar char="•"/>
            </a:pPr>
            <a:r>
              <a:rPr lang="en-US" sz="3300">
                <a:solidFill>
                  <a:srgbClr val="805A62"/>
                </a:solidFill>
                <a:latin typeface="Dekko"/>
                <a:ea typeface="Dekko"/>
                <a:cs typeface="Dekko"/>
                <a:sym typeface="Dekko"/>
              </a:rPr>
              <a:t>⌛ Outdated Info for Lesser-Known Places</a:t>
            </a:r>
          </a:p>
          <a:p>
            <a:pPr algn="l" marL="712470" indent="-356235" lvl="1">
              <a:lnSpc>
                <a:spcPts val="4620"/>
              </a:lnSpc>
              <a:buFont typeface="Arial"/>
              <a:buChar char="•"/>
            </a:pPr>
            <a:r>
              <a:rPr lang="en-US" sz="3300">
                <a:solidFill>
                  <a:srgbClr val="805A62"/>
                </a:solidFill>
                <a:latin typeface="Dekko"/>
                <a:ea typeface="Dekko"/>
                <a:cs typeface="Dekko"/>
                <a:sym typeface="Dekko"/>
              </a:rPr>
              <a:t> Not always up-to-date for remote or developing areas.</a:t>
            </a:r>
          </a:p>
          <a:p>
            <a:pPr algn="l">
              <a:lnSpc>
                <a:spcPts val="4620"/>
              </a:lnSpc>
            </a:pPr>
          </a:p>
        </p:txBody>
      </p:sp>
      <p:sp>
        <p:nvSpPr>
          <p:cNvPr name="TextBox 6" id="6"/>
          <p:cNvSpPr txBox="true"/>
          <p:nvPr/>
        </p:nvSpPr>
        <p:spPr>
          <a:xfrm rot="0">
            <a:off x="14885908" y="110506"/>
            <a:ext cx="3402092" cy="479427"/>
          </a:xfrm>
          <a:prstGeom prst="rect">
            <a:avLst/>
          </a:prstGeom>
        </p:spPr>
        <p:txBody>
          <a:bodyPr anchor="t" rtlCol="false" tIns="0" lIns="0" bIns="0" rIns="0">
            <a:spAutoFit/>
          </a:bodyPr>
          <a:lstStyle/>
          <a:p>
            <a:pPr algn="ctr">
              <a:lnSpc>
                <a:spcPts val="3500"/>
              </a:lnSpc>
              <a:spcBef>
                <a:spcPct val="0"/>
              </a:spcBef>
            </a:pPr>
            <a:r>
              <a:rPr lang="en-US" sz="3500">
                <a:solidFill>
                  <a:srgbClr val="000000"/>
                </a:solidFill>
                <a:latin typeface="Canva Student Font"/>
                <a:ea typeface="Canva Student Font"/>
                <a:cs typeface="Canva Student Font"/>
                <a:sym typeface="Canva Student Font"/>
              </a:rPr>
              <a:t>By: Hor Jun Yin 2301812</a:t>
            </a:r>
          </a:p>
        </p:txBody>
      </p:sp>
      <p:grpSp>
        <p:nvGrpSpPr>
          <p:cNvPr name="Group 7" id="7"/>
          <p:cNvGrpSpPr/>
          <p:nvPr/>
        </p:nvGrpSpPr>
        <p:grpSpPr>
          <a:xfrm rot="0">
            <a:off x="15507933" y="589933"/>
            <a:ext cx="2158041" cy="21580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7916" r="0" b="-7916"/>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TextBox 2" id="2"/>
          <p:cNvSpPr txBox="true"/>
          <p:nvPr/>
        </p:nvSpPr>
        <p:spPr>
          <a:xfrm rot="0">
            <a:off x="717538" y="694708"/>
            <a:ext cx="10591286" cy="1571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literature review: </a:t>
            </a:r>
          </a:p>
          <a:p>
            <a:pPr algn="l">
              <a:lnSpc>
                <a:spcPts val="6000"/>
              </a:lnSpc>
            </a:pPr>
            <a:r>
              <a:rPr lang="en-US" sz="6000">
                <a:solidFill>
                  <a:srgbClr val="BFBEE8"/>
                </a:solidFill>
                <a:latin typeface="Wedges"/>
                <a:ea typeface="Wedges"/>
                <a:cs typeface="Wedges"/>
                <a:sym typeface="Wedges"/>
              </a:rPr>
              <a:t>Rough Guides</a:t>
            </a:r>
          </a:p>
        </p:txBody>
      </p:sp>
      <p:sp>
        <p:nvSpPr>
          <p:cNvPr name="TextBox 3" id="3"/>
          <p:cNvSpPr txBox="true"/>
          <p:nvPr/>
        </p:nvSpPr>
        <p:spPr>
          <a:xfrm rot="0">
            <a:off x="717538" y="2190133"/>
            <a:ext cx="16610997" cy="4059555"/>
          </a:xfrm>
          <a:prstGeom prst="rect">
            <a:avLst/>
          </a:prstGeom>
        </p:spPr>
        <p:txBody>
          <a:bodyPr anchor="t" rtlCol="false" tIns="0" lIns="0" bIns="0" rIns="0">
            <a:spAutoFit/>
          </a:bodyPr>
          <a:lstStyle/>
          <a:p>
            <a:pPr algn="l">
              <a:lnSpc>
                <a:spcPts val="4620"/>
              </a:lnSpc>
            </a:pPr>
            <a:r>
              <a:rPr lang="en-US" sz="3300">
                <a:solidFill>
                  <a:srgbClr val="805A62"/>
                </a:solidFill>
                <a:latin typeface="Dekko"/>
                <a:ea typeface="Dekko"/>
                <a:cs typeface="Dekko"/>
                <a:sym typeface="Dekko"/>
              </a:rPr>
              <a:t>✔️ Advantages</a:t>
            </a:r>
          </a:p>
          <a:p>
            <a:pPr algn="l" marL="712470" indent="-356235" lvl="1">
              <a:lnSpc>
                <a:spcPts val="4620"/>
              </a:lnSpc>
              <a:buFont typeface="Arial"/>
              <a:buChar char="•"/>
            </a:pPr>
            <a:r>
              <a:rPr lang="en-US" sz="3300">
                <a:solidFill>
                  <a:srgbClr val="805A62"/>
                </a:solidFill>
                <a:latin typeface="Dekko"/>
                <a:ea typeface="Dekko"/>
                <a:cs typeface="Dekko"/>
                <a:sym typeface="Dekko"/>
              </a:rPr>
              <a:t>🧠 Expert-Curated Cultural Content - High-quality info focused on history, culture, and unique experiences.</a:t>
            </a:r>
          </a:p>
          <a:p>
            <a:pPr algn="l" marL="712470" indent="-356235" lvl="1">
              <a:lnSpc>
                <a:spcPts val="4620"/>
              </a:lnSpc>
              <a:buFont typeface="Arial"/>
              <a:buChar char="•"/>
            </a:pPr>
            <a:r>
              <a:rPr lang="en-US" sz="3300">
                <a:solidFill>
                  <a:srgbClr val="805A62"/>
                </a:solidFill>
                <a:latin typeface="Dekko"/>
                <a:ea typeface="Dekko"/>
                <a:cs typeface="Dekko"/>
                <a:sym typeface="Dekko"/>
              </a:rPr>
              <a:t>🧳 Great for</a:t>
            </a:r>
            <a:r>
              <a:rPr lang="en-US" sz="3300">
                <a:solidFill>
                  <a:srgbClr val="805A62"/>
                </a:solidFill>
                <a:latin typeface="Dekko"/>
                <a:ea typeface="Dekko"/>
                <a:cs typeface="Dekko"/>
                <a:sym typeface="Dekko"/>
              </a:rPr>
              <a:t> Off-the-Beaten-Path Travelers - Recommends lesser-known destinations and local adventures.</a:t>
            </a:r>
          </a:p>
          <a:p>
            <a:pPr algn="l" marL="712470" indent="-356235" lvl="1">
              <a:lnSpc>
                <a:spcPts val="4620"/>
              </a:lnSpc>
              <a:buFont typeface="Arial"/>
              <a:buChar char="•"/>
            </a:pPr>
            <a:r>
              <a:rPr lang="en-US" sz="3300">
                <a:solidFill>
                  <a:srgbClr val="805A62"/>
                </a:solidFill>
                <a:latin typeface="Dekko"/>
                <a:ea typeface="Dekko"/>
                <a:cs typeface="Dekko"/>
                <a:sym typeface="Dekko"/>
              </a:rPr>
              <a:t>📋 Custom Trip Planning Services - Offers expert help for creating personalized itineraries.</a:t>
            </a:r>
          </a:p>
          <a:p>
            <a:pPr algn="l">
              <a:lnSpc>
                <a:spcPts val="4620"/>
              </a:lnSpc>
            </a:pPr>
          </a:p>
        </p:txBody>
      </p:sp>
      <p:sp>
        <p:nvSpPr>
          <p:cNvPr name="TextBox 4" id="4"/>
          <p:cNvSpPr txBox="true"/>
          <p:nvPr/>
        </p:nvSpPr>
        <p:spPr>
          <a:xfrm rot="0">
            <a:off x="717538" y="6192538"/>
            <a:ext cx="8426462" cy="4094462"/>
          </a:xfrm>
          <a:prstGeom prst="rect">
            <a:avLst/>
          </a:prstGeom>
        </p:spPr>
        <p:txBody>
          <a:bodyPr anchor="t" rtlCol="false" tIns="0" lIns="0" bIns="0" rIns="0">
            <a:spAutoFit/>
          </a:bodyPr>
          <a:lstStyle/>
          <a:p>
            <a:pPr algn="l">
              <a:lnSpc>
                <a:spcPts val="4086"/>
              </a:lnSpc>
            </a:pPr>
            <a:r>
              <a:rPr lang="en-US" sz="2918">
                <a:solidFill>
                  <a:srgbClr val="805A62"/>
                </a:solidFill>
                <a:latin typeface="Dekko"/>
                <a:ea typeface="Dekko"/>
                <a:cs typeface="Dekko"/>
                <a:sym typeface="Dekko"/>
              </a:rPr>
              <a:t>⚠️ Disadvantages</a:t>
            </a:r>
          </a:p>
          <a:p>
            <a:pPr algn="l" marL="630198" indent="-315099" lvl="1">
              <a:lnSpc>
                <a:spcPts val="4086"/>
              </a:lnSpc>
              <a:buFont typeface="Arial"/>
              <a:buChar char="•"/>
            </a:pPr>
            <a:r>
              <a:rPr lang="en-US" sz="2918">
                <a:solidFill>
                  <a:srgbClr val="805A62"/>
                </a:solidFill>
                <a:latin typeface="Dekko"/>
                <a:ea typeface="Dekko"/>
                <a:cs typeface="Dekko"/>
                <a:sym typeface="Dekko"/>
              </a:rPr>
              <a:t>💰 Paywalled Content - Full access to data requires purchase or subscription.</a:t>
            </a:r>
          </a:p>
          <a:p>
            <a:pPr algn="l" marL="630198" indent="-315099" lvl="1">
              <a:lnSpc>
                <a:spcPts val="4086"/>
              </a:lnSpc>
              <a:buFont typeface="Arial"/>
              <a:buChar char="•"/>
            </a:pPr>
            <a:r>
              <a:rPr lang="en-US" sz="2918">
                <a:solidFill>
                  <a:srgbClr val="805A62"/>
                </a:solidFill>
                <a:latin typeface="Dekko"/>
                <a:ea typeface="Dekko"/>
                <a:cs typeface="Dekko"/>
                <a:sym typeface="Dekko"/>
              </a:rPr>
              <a:t>🖥️ Lacks Visual &amp; Interactive Features -</a:t>
            </a:r>
            <a:r>
              <a:rPr lang="en-US" sz="2918">
                <a:solidFill>
                  <a:srgbClr val="805A62"/>
                </a:solidFill>
                <a:latin typeface="Dekko"/>
                <a:ea typeface="Dekko"/>
                <a:cs typeface="Dekko"/>
                <a:sym typeface="Dekko"/>
              </a:rPr>
              <a:t> Not very engaging for modern users.</a:t>
            </a:r>
          </a:p>
          <a:p>
            <a:pPr algn="l" marL="630198" indent="-315099" lvl="1">
              <a:lnSpc>
                <a:spcPts val="4086"/>
              </a:lnSpc>
              <a:buFont typeface="Arial"/>
              <a:buChar char="•"/>
            </a:pPr>
            <a:r>
              <a:rPr lang="en-US" sz="2918">
                <a:solidFill>
                  <a:srgbClr val="805A62"/>
                </a:solidFill>
                <a:latin typeface="Dekko"/>
                <a:ea typeface="Dekko"/>
                <a:cs typeface="Dekko"/>
                <a:sym typeface="Dekko"/>
              </a:rPr>
              <a:t>🤐 Limited User Interaction - No active forums or community engagement tools.</a:t>
            </a:r>
          </a:p>
          <a:p>
            <a:pPr algn="l">
              <a:lnSpc>
                <a:spcPts val="4086"/>
              </a:lnSpc>
            </a:pPr>
          </a:p>
        </p:txBody>
      </p:sp>
      <p:sp>
        <p:nvSpPr>
          <p:cNvPr name="TextBox 5" id="5"/>
          <p:cNvSpPr txBox="true"/>
          <p:nvPr/>
        </p:nvSpPr>
        <p:spPr>
          <a:xfrm rot="0">
            <a:off x="9144000" y="6384552"/>
            <a:ext cx="8953801" cy="4321536"/>
          </a:xfrm>
          <a:prstGeom prst="rect">
            <a:avLst/>
          </a:prstGeom>
        </p:spPr>
        <p:txBody>
          <a:bodyPr anchor="t" rtlCol="false" tIns="0" lIns="0" bIns="0" rIns="0">
            <a:spAutoFit/>
          </a:bodyPr>
          <a:lstStyle/>
          <a:p>
            <a:pPr algn="l">
              <a:lnSpc>
                <a:spcPts val="4934"/>
              </a:lnSpc>
            </a:pPr>
            <a:r>
              <a:rPr lang="en-US" sz="3524">
                <a:solidFill>
                  <a:srgbClr val="805A62"/>
                </a:solidFill>
                <a:latin typeface="Dekko"/>
                <a:ea typeface="Dekko"/>
                <a:cs typeface="Dekko"/>
                <a:sym typeface="Dekko"/>
              </a:rPr>
              <a:t>🚫 Limitations</a:t>
            </a:r>
          </a:p>
          <a:p>
            <a:pPr algn="l" marL="761032" indent="-380516" lvl="1">
              <a:lnSpc>
                <a:spcPts val="4934"/>
              </a:lnSpc>
              <a:buFont typeface="Arial"/>
              <a:buChar char="•"/>
            </a:pPr>
            <a:r>
              <a:rPr lang="en-US" sz="3524">
                <a:solidFill>
                  <a:srgbClr val="805A62"/>
                </a:solidFill>
                <a:latin typeface="Dekko"/>
                <a:ea typeface="Dekko"/>
                <a:cs typeface="Dekko"/>
                <a:sym typeface="Dekko"/>
              </a:rPr>
              <a:t>📆 Infrequent Updates - Some content may be outdated, leading to inaccurat</a:t>
            </a:r>
            <a:r>
              <a:rPr lang="en-US" sz="3524">
                <a:solidFill>
                  <a:srgbClr val="805A62"/>
                </a:solidFill>
                <a:latin typeface="Dekko"/>
                <a:ea typeface="Dekko"/>
                <a:cs typeface="Dekko"/>
                <a:sym typeface="Dekko"/>
              </a:rPr>
              <a:t>e planning.</a:t>
            </a:r>
          </a:p>
          <a:p>
            <a:pPr algn="l" marL="761032" indent="-380516" lvl="1">
              <a:lnSpc>
                <a:spcPts val="4934"/>
              </a:lnSpc>
              <a:buFont typeface="Arial"/>
              <a:buChar char="•"/>
            </a:pPr>
            <a:r>
              <a:rPr lang="en-US" sz="3524">
                <a:solidFill>
                  <a:srgbClr val="805A62"/>
                </a:solidFill>
                <a:latin typeface="Dekko"/>
                <a:ea typeface="Dekko"/>
                <a:cs typeface="Dekko"/>
                <a:sym typeface="Dekko"/>
              </a:rPr>
              <a:t>📱 Not Mobile-Friendly - Difficult to use on phones, limiting travel-on-the-go accessibility.</a:t>
            </a:r>
          </a:p>
          <a:p>
            <a:pPr algn="l">
              <a:lnSpc>
                <a:spcPts val="4934"/>
              </a:lnSpc>
            </a:pPr>
          </a:p>
        </p:txBody>
      </p:sp>
      <p:sp>
        <p:nvSpPr>
          <p:cNvPr name="TextBox 6" id="6"/>
          <p:cNvSpPr txBox="true"/>
          <p:nvPr/>
        </p:nvSpPr>
        <p:spPr>
          <a:xfrm rot="0">
            <a:off x="14885908" y="110506"/>
            <a:ext cx="3402092" cy="479427"/>
          </a:xfrm>
          <a:prstGeom prst="rect">
            <a:avLst/>
          </a:prstGeom>
        </p:spPr>
        <p:txBody>
          <a:bodyPr anchor="t" rtlCol="false" tIns="0" lIns="0" bIns="0" rIns="0">
            <a:spAutoFit/>
          </a:bodyPr>
          <a:lstStyle/>
          <a:p>
            <a:pPr algn="ctr">
              <a:lnSpc>
                <a:spcPts val="3500"/>
              </a:lnSpc>
              <a:spcBef>
                <a:spcPct val="0"/>
              </a:spcBef>
            </a:pPr>
            <a:r>
              <a:rPr lang="en-US" sz="3500">
                <a:solidFill>
                  <a:srgbClr val="000000"/>
                </a:solidFill>
                <a:latin typeface="Canva Student Font"/>
                <a:ea typeface="Canva Student Font"/>
                <a:cs typeface="Canva Student Font"/>
                <a:sym typeface="Canva Student Font"/>
              </a:rPr>
              <a:t>By: Hor Jun Yin 2301812</a:t>
            </a:r>
          </a:p>
        </p:txBody>
      </p:sp>
      <p:grpSp>
        <p:nvGrpSpPr>
          <p:cNvPr name="Group 7" id="7"/>
          <p:cNvGrpSpPr/>
          <p:nvPr/>
        </p:nvGrpSpPr>
        <p:grpSpPr>
          <a:xfrm rot="0">
            <a:off x="15507933" y="589933"/>
            <a:ext cx="2158041" cy="21580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7916" r="0" b="-7916"/>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TextBox 2" id="2"/>
          <p:cNvSpPr txBox="true"/>
          <p:nvPr/>
        </p:nvSpPr>
        <p:spPr>
          <a:xfrm rot="0">
            <a:off x="717538" y="694708"/>
            <a:ext cx="10591286" cy="1571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literature review: </a:t>
            </a:r>
          </a:p>
          <a:p>
            <a:pPr algn="l">
              <a:lnSpc>
                <a:spcPts val="6000"/>
              </a:lnSpc>
            </a:pPr>
            <a:r>
              <a:rPr lang="en-US" sz="6000">
                <a:solidFill>
                  <a:srgbClr val="BFBEE8"/>
                </a:solidFill>
                <a:latin typeface="Wedges"/>
                <a:ea typeface="Wedges"/>
                <a:cs typeface="Wedges"/>
                <a:sym typeface="Wedges"/>
              </a:rPr>
              <a:t>the culture trip</a:t>
            </a:r>
          </a:p>
        </p:txBody>
      </p:sp>
      <p:sp>
        <p:nvSpPr>
          <p:cNvPr name="TextBox 3" id="3"/>
          <p:cNvSpPr txBox="true"/>
          <p:nvPr/>
        </p:nvSpPr>
        <p:spPr>
          <a:xfrm rot="0">
            <a:off x="556215" y="2209183"/>
            <a:ext cx="16703085" cy="3533442"/>
          </a:xfrm>
          <a:prstGeom prst="rect">
            <a:avLst/>
          </a:prstGeom>
        </p:spPr>
        <p:txBody>
          <a:bodyPr anchor="t" rtlCol="false" tIns="0" lIns="0" bIns="0" rIns="0">
            <a:spAutoFit/>
          </a:bodyPr>
          <a:lstStyle/>
          <a:p>
            <a:pPr algn="l">
              <a:lnSpc>
                <a:spcPts val="4031"/>
              </a:lnSpc>
            </a:pPr>
            <a:r>
              <a:rPr lang="en-US" sz="2879">
                <a:solidFill>
                  <a:srgbClr val="805A62"/>
                </a:solidFill>
                <a:latin typeface="Dekko"/>
                <a:ea typeface="Dekko"/>
                <a:cs typeface="Dekko"/>
                <a:sym typeface="Dekko"/>
              </a:rPr>
              <a:t>✔️ Advantages</a:t>
            </a:r>
          </a:p>
          <a:p>
            <a:pPr algn="l" marL="621776" indent="-310888" lvl="1">
              <a:lnSpc>
                <a:spcPts val="4031"/>
              </a:lnSpc>
              <a:buFont typeface="Arial"/>
              <a:buChar char="•"/>
            </a:pPr>
            <a:r>
              <a:rPr lang="en-US" sz="2879">
                <a:solidFill>
                  <a:srgbClr val="805A62"/>
                </a:solidFill>
                <a:latin typeface="Dekko"/>
                <a:ea typeface="Dekko"/>
                <a:cs typeface="Dekko"/>
                <a:sym typeface="Dekko"/>
              </a:rPr>
              <a:t>🎭 Cultural Storytelling Focus - Combines travel with insights on art, food, history, and traditions.</a:t>
            </a:r>
          </a:p>
          <a:p>
            <a:pPr algn="l" marL="621776" indent="-310888" lvl="1">
              <a:lnSpc>
                <a:spcPts val="4031"/>
              </a:lnSpc>
              <a:buFont typeface="Arial"/>
              <a:buChar char="•"/>
            </a:pPr>
            <a:r>
              <a:rPr lang="en-US" sz="2879">
                <a:solidFill>
                  <a:srgbClr val="805A62"/>
                </a:solidFill>
                <a:latin typeface="Dekko"/>
                <a:ea typeface="Dekko"/>
                <a:cs typeface="Dekko"/>
                <a:sym typeface="Dekko"/>
              </a:rPr>
              <a:t>📸 Visually Engaging Design - Strong visuals and narrative content create an immersive experience.</a:t>
            </a:r>
          </a:p>
          <a:p>
            <a:pPr algn="l" marL="621776" indent="-310888" lvl="1">
              <a:lnSpc>
                <a:spcPts val="4031"/>
              </a:lnSpc>
              <a:buFont typeface="Arial"/>
              <a:buChar char="•"/>
            </a:pPr>
            <a:r>
              <a:rPr lang="en-US" sz="2879">
                <a:solidFill>
                  <a:srgbClr val="805A62"/>
                </a:solidFill>
                <a:latin typeface="Dekko"/>
                <a:ea typeface="Dekko"/>
                <a:cs typeface="Dekko"/>
                <a:sym typeface="Dekko"/>
              </a:rPr>
              <a:t>🧾</a:t>
            </a:r>
            <a:r>
              <a:rPr lang="en-US" sz="2879">
                <a:solidFill>
                  <a:srgbClr val="805A62"/>
                </a:solidFill>
                <a:latin typeface="Dekko"/>
                <a:ea typeface="Dekko"/>
                <a:cs typeface="Dekko"/>
                <a:sym typeface="Dekko"/>
              </a:rPr>
              <a:t> Integrated Booking</a:t>
            </a:r>
            <a:r>
              <a:rPr lang="en-US" sz="2879">
                <a:solidFill>
                  <a:srgbClr val="805A62"/>
                </a:solidFill>
                <a:latin typeface="Dekko"/>
                <a:ea typeface="Dekko"/>
                <a:cs typeface="Dekko"/>
                <a:sym typeface="Dekko"/>
              </a:rPr>
              <a:t> + Editorial Content - Users can read recommendations and book through the same platform.</a:t>
            </a:r>
          </a:p>
          <a:p>
            <a:pPr algn="l" marL="621776" indent="-310888" lvl="1">
              <a:lnSpc>
                <a:spcPts val="4031"/>
              </a:lnSpc>
              <a:buFont typeface="Arial"/>
              <a:buChar char="•"/>
            </a:pPr>
            <a:r>
              <a:rPr lang="en-US" sz="2879">
                <a:solidFill>
                  <a:srgbClr val="805A62"/>
                </a:solidFill>
                <a:latin typeface="Dekko"/>
                <a:ea typeface="Dekko"/>
                <a:cs typeface="Dekko"/>
                <a:sym typeface="Dekko"/>
              </a:rPr>
              <a:t>🌟 Highlights Hidden Gems - Features authentic, lesser-known locations for unique experiences.</a:t>
            </a:r>
          </a:p>
          <a:p>
            <a:pPr algn="l">
              <a:lnSpc>
                <a:spcPts val="4031"/>
              </a:lnSpc>
            </a:pPr>
          </a:p>
        </p:txBody>
      </p:sp>
      <p:sp>
        <p:nvSpPr>
          <p:cNvPr name="TextBox 4" id="4"/>
          <p:cNvSpPr txBox="true"/>
          <p:nvPr/>
        </p:nvSpPr>
        <p:spPr>
          <a:xfrm rot="0">
            <a:off x="556215" y="5685475"/>
            <a:ext cx="8426462" cy="4094462"/>
          </a:xfrm>
          <a:prstGeom prst="rect">
            <a:avLst/>
          </a:prstGeom>
        </p:spPr>
        <p:txBody>
          <a:bodyPr anchor="t" rtlCol="false" tIns="0" lIns="0" bIns="0" rIns="0">
            <a:spAutoFit/>
          </a:bodyPr>
          <a:lstStyle/>
          <a:p>
            <a:pPr algn="l">
              <a:lnSpc>
                <a:spcPts val="4086"/>
              </a:lnSpc>
            </a:pPr>
            <a:r>
              <a:rPr lang="en-US" sz="2918">
                <a:solidFill>
                  <a:srgbClr val="805A62"/>
                </a:solidFill>
                <a:latin typeface="Dekko"/>
                <a:ea typeface="Dekko"/>
                <a:cs typeface="Dekko"/>
                <a:sym typeface="Dekko"/>
              </a:rPr>
              <a:t>⚠️ Disadvantages</a:t>
            </a:r>
          </a:p>
          <a:p>
            <a:pPr algn="l" marL="630198" indent="-315099" lvl="1">
              <a:lnSpc>
                <a:spcPts val="4086"/>
              </a:lnSpc>
              <a:buFont typeface="Arial"/>
              <a:buChar char="•"/>
            </a:pPr>
            <a:r>
              <a:rPr lang="en-US" sz="2918">
                <a:solidFill>
                  <a:srgbClr val="805A62"/>
                </a:solidFill>
                <a:latin typeface="Dekko"/>
                <a:ea typeface="Dekko"/>
                <a:cs typeface="Dekko"/>
                <a:sym typeface="Dekko"/>
              </a:rPr>
              <a:t>🌍 Limited Coverage - Not as comprehensive across all locations and lacks detailed info for some.</a:t>
            </a:r>
          </a:p>
          <a:p>
            <a:pPr algn="l" marL="630198" indent="-315099" lvl="1">
              <a:lnSpc>
                <a:spcPts val="4086"/>
              </a:lnSpc>
              <a:buFont typeface="Arial"/>
              <a:buChar char="•"/>
            </a:pPr>
            <a:r>
              <a:rPr lang="en-US" sz="2918">
                <a:solidFill>
                  <a:srgbClr val="805A62"/>
                </a:solidFill>
                <a:latin typeface="Dekko"/>
                <a:ea typeface="Dekko"/>
                <a:cs typeface="Dekko"/>
                <a:sym typeface="Dekko"/>
              </a:rPr>
              <a:t>📰 More</a:t>
            </a:r>
            <a:r>
              <a:rPr lang="en-US" sz="2918">
                <a:solidFill>
                  <a:srgbClr val="805A62"/>
                </a:solidFill>
                <a:latin typeface="Dekko"/>
                <a:ea typeface="Dekko"/>
                <a:cs typeface="Dekko"/>
                <a:sym typeface="Dekko"/>
              </a:rPr>
              <a:t> Lifestyle Than Practical - Focuses on</a:t>
            </a:r>
            <a:r>
              <a:rPr lang="en-US" sz="2918">
                <a:solidFill>
                  <a:srgbClr val="805A62"/>
                </a:solidFill>
                <a:latin typeface="Dekko"/>
                <a:ea typeface="Dekko"/>
                <a:cs typeface="Dekko"/>
                <a:sym typeface="Dekko"/>
              </a:rPr>
              <a:t> storytelling over structured, trip-specific advice.</a:t>
            </a:r>
          </a:p>
          <a:p>
            <a:pPr algn="l" marL="630198" indent="-315099" lvl="1">
              <a:lnSpc>
                <a:spcPts val="4086"/>
              </a:lnSpc>
              <a:buFont typeface="Arial"/>
              <a:buChar char="•"/>
            </a:pPr>
            <a:r>
              <a:rPr lang="en-US" sz="2918">
                <a:solidFill>
                  <a:srgbClr val="805A62"/>
                </a:solidFill>
                <a:latin typeface="Dekko"/>
                <a:ea typeface="Dekko"/>
                <a:cs typeface="Dekko"/>
                <a:sym typeface="Dekko"/>
              </a:rPr>
              <a:t>🧩 No Advanced Planning Tools - Missing itinerary builders and organizational features.</a:t>
            </a:r>
          </a:p>
          <a:p>
            <a:pPr algn="l">
              <a:lnSpc>
                <a:spcPts val="4086"/>
              </a:lnSpc>
            </a:pPr>
          </a:p>
        </p:txBody>
      </p:sp>
      <p:sp>
        <p:nvSpPr>
          <p:cNvPr name="TextBox 5" id="5"/>
          <p:cNvSpPr txBox="true"/>
          <p:nvPr/>
        </p:nvSpPr>
        <p:spPr>
          <a:xfrm rot="0">
            <a:off x="8982677" y="5685475"/>
            <a:ext cx="8953801" cy="4094462"/>
          </a:xfrm>
          <a:prstGeom prst="rect">
            <a:avLst/>
          </a:prstGeom>
        </p:spPr>
        <p:txBody>
          <a:bodyPr anchor="t" rtlCol="false" tIns="0" lIns="0" bIns="0" rIns="0">
            <a:spAutoFit/>
          </a:bodyPr>
          <a:lstStyle/>
          <a:p>
            <a:pPr algn="l">
              <a:lnSpc>
                <a:spcPts val="4682"/>
              </a:lnSpc>
            </a:pPr>
            <a:r>
              <a:rPr lang="en-US" sz="3344">
                <a:solidFill>
                  <a:srgbClr val="805A62"/>
                </a:solidFill>
                <a:latin typeface="Dekko"/>
                <a:ea typeface="Dekko"/>
                <a:cs typeface="Dekko"/>
                <a:sym typeface="Dekko"/>
              </a:rPr>
              <a:t>🚫 Limitations</a:t>
            </a:r>
          </a:p>
          <a:p>
            <a:pPr algn="l" marL="722121" indent="-361060" lvl="1">
              <a:lnSpc>
                <a:spcPts val="4682"/>
              </a:lnSpc>
              <a:buFont typeface="Arial"/>
              <a:buChar char="•"/>
            </a:pPr>
            <a:r>
              <a:rPr lang="en-US" sz="3344">
                <a:solidFill>
                  <a:srgbClr val="805A62"/>
                </a:solidFill>
                <a:latin typeface="Dekko"/>
                <a:ea typeface="Dekko"/>
                <a:cs typeface="Dekko"/>
                <a:sym typeface="Dekko"/>
              </a:rPr>
              <a:t>📝 Blog-Like Format - Content feels informal, making structur</a:t>
            </a:r>
            <a:r>
              <a:rPr lang="en-US" sz="3344">
                <a:solidFill>
                  <a:srgbClr val="805A62"/>
                </a:solidFill>
                <a:latin typeface="Dekko"/>
                <a:ea typeface="Dekko"/>
                <a:cs typeface="Dekko"/>
                <a:sym typeface="Dekko"/>
              </a:rPr>
              <a:t>ed planning difficult.</a:t>
            </a:r>
          </a:p>
          <a:p>
            <a:pPr algn="l" marL="722121" indent="-361060" lvl="1">
              <a:lnSpc>
                <a:spcPts val="4682"/>
              </a:lnSpc>
              <a:buFont typeface="Arial"/>
              <a:buChar char="•"/>
            </a:pPr>
            <a:r>
              <a:rPr lang="en-US" sz="3344">
                <a:solidFill>
                  <a:srgbClr val="805A62"/>
                </a:solidFill>
                <a:latin typeface="Dekko"/>
                <a:ea typeface="Dekko"/>
                <a:cs typeface="Dekko"/>
                <a:sym typeface="Dekko"/>
              </a:rPr>
              <a:t>💸 Lacks Budget Travel Focus - Less practical for users seeking simple and affordable travel advice.</a:t>
            </a:r>
          </a:p>
          <a:p>
            <a:pPr algn="l">
              <a:lnSpc>
                <a:spcPts val="4682"/>
              </a:lnSpc>
            </a:pPr>
          </a:p>
        </p:txBody>
      </p:sp>
      <p:sp>
        <p:nvSpPr>
          <p:cNvPr name="TextBox 6" id="6"/>
          <p:cNvSpPr txBox="true"/>
          <p:nvPr/>
        </p:nvSpPr>
        <p:spPr>
          <a:xfrm rot="0">
            <a:off x="14885908" y="110506"/>
            <a:ext cx="3402092" cy="917577"/>
          </a:xfrm>
          <a:prstGeom prst="rect">
            <a:avLst/>
          </a:prstGeom>
        </p:spPr>
        <p:txBody>
          <a:bodyPr anchor="t" rtlCol="false" tIns="0" lIns="0" bIns="0" rIns="0">
            <a:spAutoFit/>
          </a:bodyPr>
          <a:lstStyle/>
          <a:p>
            <a:pPr algn="ctr">
              <a:lnSpc>
                <a:spcPts val="3500"/>
              </a:lnSpc>
              <a:spcBef>
                <a:spcPct val="0"/>
              </a:spcBef>
            </a:pPr>
            <a:r>
              <a:rPr lang="en-US" sz="3500">
                <a:solidFill>
                  <a:srgbClr val="000000"/>
                </a:solidFill>
                <a:latin typeface="Canva Student Font"/>
                <a:ea typeface="Canva Student Font"/>
                <a:cs typeface="Canva Student Font"/>
                <a:sym typeface="Canva Student Font"/>
              </a:rPr>
              <a:t>By: Woo Kah Wei 2400696</a:t>
            </a:r>
          </a:p>
        </p:txBody>
      </p:sp>
      <p:grpSp>
        <p:nvGrpSpPr>
          <p:cNvPr name="Group 7" id="7"/>
          <p:cNvGrpSpPr/>
          <p:nvPr/>
        </p:nvGrpSpPr>
        <p:grpSpPr>
          <a:xfrm rot="0">
            <a:off x="8737696" y="179008"/>
            <a:ext cx="2087325" cy="208732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6377" t="0" r="-6377"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0">
            <a:off x="7588278" y="960578"/>
            <a:ext cx="10699722" cy="1494183"/>
          </a:xfrm>
          <a:custGeom>
            <a:avLst/>
            <a:gdLst/>
            <a:ahLst/>
            <a:cxnLst/>
            <a:rect r="r" b="b" t="t" l="l"/>
            <a:pathLst>
              <a:path h="1494183" w="10699722">
                <a:moveTo>
                  <a:pt x="0" y="0"/>
                </a:moveTo>
                <a:lnTo>
                  <a:pt x="10699722" y="0"/>
                </a:lnTo>
                <a:lnTo>
                  <a:pt x="10699722" y="1494183"/>
                </a:lnTo>
                <a:lnTo>
                  <a:pt x="0" y="1494183"/>
                </a:lnTo>
                <a:lnTo>
                  <a:pt x="0" y="0"/>
                </a:lnTo>
                <a:close/>
              </a:path>
            </a:pathLst>
          </a:custGeom>
          <a:blipFill>
            <a:blip r:embed="rId2"/>
            <a:stretch>
              <a:fillRect l="0" t="0" r="0" b="0"/>
            </a:stretch>
          </a:blipFill>
        </p:spPr>
      </p:sp>
      <p:sp>
        <p:nvSpPr>
          <p:cNvPr name="Freeform 3" id="3"/>
          <p:cNvSpPr/>
          <p:nvPr/>
        </p:nvSpPr>
        <p:spPr>
          <a:xfrm flipH="false" flipV="false" rot="0">
            <a:off x="7981989" y="6624266"/>
            <a:ext cx="10692381" cy="1893981"/>
          </a:xfrm>
          <a:custGeom>
            <a:avLst/>
            <a:gdLst/>
            <a:ahLst/>
            <a:cxnLst/>
            <a:rect r="r" b="b" t="t" l="l"/>
            <a:pathLst>
              <a:path h="1893981" w="10692381">
                <a:moveTo>
                  <a:pt x="0" y="0"/>
                </a:moveTo>
                <a:lnTo>
                  <a:pt x="10692381" y="0"/>
                </a:lnTo>
                <a:lnTo>
                  <a:pt x="10692381" y="1893981"/>
                </a:lnTo>
                <a:lnTo>
                  <a:pt x="0" y="1893981"/>
                </a:lnTo>
                <a:lnTo>
                  <a:pt x="0" y="0"/>
                </a:lnTo>
                <a:close/>
              </a:path>
            </a:pathLst>
          </a:custGeom>
          <a:blipFill>
            <a:blip r:embed="rId3"/>
            <a:stretch>
              <a:fillRect l="0" t="0" r="0" b="0"/>
            </a:stretch>
          </a:blipFill>
        </p:spPr>
      </p:sp>
      <p:sp>
        <p:nvSpPr>
          <p:cNvPr name="TextBox 4" id="4"/>
          <p:cNvSpPr txBox="true"/>
          <p:nvPr/>
        </p:nvSpPr>
        <p:spPr>
          <a:xfrm rot="0">
            <a:off x="556215" y="2397611"/>
            <a:ext cx="16703085" cy="3012950"/>
          </a:xfrm>
          <a:prstGeom prst="rect">
            <a:avLst/>
          </a:prstGeom>
        </p:spPr>
        <p:txBody>
          <a:bodyPr anchor="t" rtlCol="false" tIns="0" lIns="0" bIns="0" rIns="0">
            <a:spAutoFit/>
          </a:bodyPr>
          <a:lstStyle/>
          <a:p>
            <a:pPr algn="l" marL="621776" indent="-310888" lvl="1">
              <a:lnSpc>
                <a:spcPts val="4031"/>
              </a:lnSpc>
              <a:buFont typeface="Arial"/>
              <a:buChar char="•"/>
            </a:pPr>
            <a:r>
              <a:rPr lang="en-US" sz="2879">
                <a:solidFill>
                  <a:srgbClr val="805A62"/>
                </a:solidFill>
                <a:latin typeface="Dekko"/>
                <a:ea typeface="Dekko"/>
                <a:cs typeface="Dekko"/>
                <a:sym typeface="Dekko"/>
              </a:rPr>
              <a:t>Stores data permanently in the browser (until cleared manually)</a:t>
            </a:r>
          </a:p>
          <a:p>
            <a:pPr algn="l" marL="621776" indent="-310888" lvl="1">
              <a:lnSpc>
                <a:spcPts val="4031"/>
              </a:lnSpc>
              <a:buFont typeface="Arial"/>
              <a:buChar char="•"/>
            </a:pPr>
            <a:r>
              <a:rPr lang="en-US" sz="2879">
                <a:solidFill>
                  <a:srgbClr val="805A62"/>
                </a:solidFill>
                <a:latin typeface="Dekko"/>
                <a:ea typeface="Dekko"/>
                <a:cs typeface="Dekko"/>
                <a:sym typeface="Dekko"/>
              </a:rPr>
              <a:t>Suitable for user preferences that should persist across sessions</a:t>
            </a:r>
          </a:p>
          <a:p>
            <a:pPr algn="l" marL="621776" indent="-310888" lvl="1">
              <a:lnSpc>
                <a:spcPts val="4031"/>
              </a:lnSpc>
              <a:buFont typeface="Arial"/>
              <a:buChar char="•"/>
            </a:pPr>
            <a:r>
              <a:rPr lang="en-US" sz="2879">
                <a:solidFill>
                  <a:srgbClr val="805A62"/>
                </a:solidFill>
                <a:latin typeface="Dekko"/>
                <a:ea typeface="Dekko"/>
                <a:cs typeface="Dekko"/>
                <a:sym typeface="Dekko"/>
              </a:rPr>
              <a:t>In this website:</a:t>
            </a:r>
          </a:p>
          <a:p>
            <a:pPr algn="l" marL="1243552" indent="-414517" lvl="2">
              <a:lnSpc>
                <a:spcPts val="4031"/>
              </a:lnSpc>
              <a:buFont typeface="Arial"/>
              <a:buChar char="⚬"/>
            </a:pPr>
            <a:r>
              <a:rPr lang="en-US" sz="2879">
                <a:solidFill>
                  <a:srgbClr val="805A62"/>
                </a:solidFill>
                <a:latin typeface="Dekko"/>
                <a:ea typeface="Dekko"/>
                <a:cs typeface="Dekko"/>
                <a:sym typeface="Dekko"/>
              </a:rPr>
              <a:t>Stores cookie acceptance so the banner doesn’t show again</a:t>
            </a:r>
          </a:p>
          <a:p>
            <a:pPr algn="l" marL="1243552" indent="-414517" lvl="2">
              <a:lnSpc>
                <a:spcPts val="4031"/>
              </a:lnSpc>
              <a:buFont typeface="Arial"/>
              <a:buChar char="⚬"/>
            </a:pPr>
            <a:r>
              <a:rPr lang="en-US" sz="2879">
                <a:solidFill>
                  <a:srgbClr val="805A62"/>
                </a:solidFill>
                <a:latin typeface="Dekko"/>
                <a:ea typeface="Dekko"/>
                <a:cs typeface="Dekko"/>
                <a:sym typeface="Dekko"/>
              </a:rPr>
              <a:t>Saves user’s theme preference (e.g., light mode)</a:t>
            </a:r>
          </a:p>
          <a:p>
            <a:pPr algn="l" marL="1243552" indent="-414517" lvl="2">
              <a:lnSpc>
                <a:spcPts val="4031"/>
              </a:lnSpc>
              <a:buFont typeface="Arial"/>
              <a:buChar char="⚬"/>
            </a:pPr>
            <a:r>
              <a:rPr lang="en-US" sz="2879">
                <a:solidFill>
                  <a:srgbClr val="805A62"/>
                </a:solidFill>
                <a:latin typeface="Dekko"/>
                <a:ea typeface="Dekko"/>
                <a:cs typeface="Dekko"/>
                <a:sym typeface="Dekko"/>
              </a:rPr>
              <a:t>Can remember which continent the user last clicked in the Destinations section</a:t>
            </a:r>
          </a:p>
        </p:txBody>
      </p:sp>
      <p:sp>
        <p:nvSpPr>
          <p:cNvPr name="Freeform 5" id="5"/>
          <p:cNvSpPr/>
          <p:nvPr/>
        </p:nvSpPr>
        <p:spPr>
          <a:xfrm flipH="false" flipV="false" rot="0">
            <a:off x="7519182" y="5505811"/>
            <a:ext cx="10768818" cy="1023205"/>
          </a:xfrm>
          <a:custGeom>
            <a:avLst/>
            <a:gdLst/>
            <a:ahLst/>
            <a:cxnLst/>
            <a:rect r="r" b="b" t="t" l="l"/>
            <a:pathLst>
              <a:path h="1023205" w="10768818">
                <a:moveTo>
                  <a:pt x="0" y="0"/>
                </a:moveTo>
                <a:lnTo>
                  <a:pt x="10768818" y="0"/>
                </a:lnTo>
                <a:lnTo>
                  <a:pt x="10768818" y="1023205"/>
                </a:lnTo>
                <a:lnTo>
                  <a:pt x="0" y="1023205"/>
                </a:lnTo>
                <a:lnTo>
                  <a:pt x="0" y="0"/>
                </a:lnTo>
                <a:close/>
              </a:path>
            </a:pathLst>
          </a:custGeom>
          <a:blipFill>
            <a:blip r:embed="rId4"/>
            <a:stretch>
              <a:fillRect l="0" t="0" r="0" b="0"/>
            </a:stretch>
          </a:blipFill>
        </p:spPr>
      </p:sp>
      <p:sp>
        <p:nvSpPr>
          <p:cNvPr name="TextBox 6" id="6"/>
          <p:cNvSpPr txBox="true"/>
          <p:nvPr/>
        </p:nvSpPr>
        <p:spPr>
          <a:xfrm rot="0">
            <a:off x="717538" y="694708"/>
            <a:ext cx="10591286" cy="1571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local Storage:</a:t>
            </a:r>
          </a:p>
          <a:p>
            <a:pPr algn="l">
              <a:lnSpc>
                <a:spcPts val="6000"/>
              </a:lnSpc>
            </a:pPr>
            <a:r>
              <a:rPr lang="en-US" sz="6000">
                <a:solidFill>
                  <a:srgbClr val="BFBEE8"/>
                </a:solidFill>
                <a:latin typeface="Wedges"/>
                <a:ea typeface="Wedges"/>
                <a:cs typeface="Wedges"/>
                <a:sym typeface="Wedges"/>
              </a:rPr>
              <a:t>(persistent)</a:t>
            </a:r>
          </a:p>
        </p:txBody>
      </p:sp>
      <p:sp>
        <p:nvSpPr>
          <p:cNvPr name="TextBox 7" id="7"/>
          <p:cNvSpPr txBox="true"/>
          <p:nvPr/>
        </p:nvSpPr>
        <p:spPr>
          <a:xfrm rot="0">
            <a:off x="14885908" y="110506"/>
            <a:ext cx="3402092" cy="917577"/>
          </a:xfrm>
          <a:prstGeom prst="rect">
            <a:avLst/>
          </a:prstGeom>
        </p:spPr>
        <p:txBody>
          <a:bodyPr anchor="t" rtlCol="false" tIns="0" lIns="0" bIns="0" rIns="0">
            <a:spAutoFit/>
          </a:bodyPr>
          <a:lstStyle/>
          <a:p>
            <a:pPr algn="ctr">
              <a:lnSpc>
                <a:spcPts val="3500"/>
              </a:lnSpc>
              <a:spcBef>
                <a:spcPct val="0"/>
              </a:spcBef>
            </a:pPr>
            <a:r>
              <a:rPr lang="en-US" sz="3500">
                <a:solidFill>
                  <a:srgbClr val="000000"/>
                </a:solidFill>
                <a:latin typeface="Canva Student Font"/>
                <a:ea typeface="Canva Student Font"/>
                <a:cs typeface="Canva Student Font"/>
                <a:sym typeface="Canva Student Font"/>
              </a:rPr>
              <a:t>By: Kam Qing Wen 2400897</a:t>
            </a:r>
          </a:p>
        </p:txBody>
      </p:sp>
      <p:sp>
        <p:nvSpPr>
          <p:cNvPr name="TextBox 8" id="8"/>
          <p:cNvSpPr txBox="true"/>
          <p:nvPr/>
        </p:nvSpPr>
        <p:spPr>
          <a:xfrm rot="0">
            <a:off x="556215" y="5515336"/>
            <a:ext cx="10591286" cy="1571625"/>
          </a:xfrm>
          <a:prstGeom prst="rect">
            <a:avLst/>
          </a:prstGeom>
        </p:spPr>
        <p:txBody>
          <a:bodyPr anchor="t" rtlCol="false" tIns="0" lIns="0" bIns="0" rIns="0">
            <a:spAutoFit/>
          </a:bodyPr>
          <a:lstStyle/>
          <a:p>
            <a:pPr algn="l">
              <a:lnSpc>
                <a:spcPts val="6000"/>
              </a:lnSpc>
            </a:pPr>
            <a:r>
              <a:rPr lang="en-US" sz="6000">
                <a:solidFill>
                  <a:srgbClr val="B5838D"/>
                </a:solidFill>
                <a:latin typeface="Wedges"/>
                <a:ea typeface="Wedges"/>
                <a:cs typeface="Wedges"/>
                <a:sym typeface="Wedges"/>
              </a:rPr>
              <a:t>Session Storage:</a:t>
            </a:r>
          </a:p>
          <a:p>
            <a:pPr algn="l">
              <a:lnSpc>
                <a:spcPts val="6000"/>
              </a:lnSpc>
            </a:pPr>
            <a:r>
              <a:rPr lang="en-US" sz="6000">
                <a:solidFill>
                  <a:srgbClr val="BFBEE8"/>
                </a:solidFill>
                <a:latin typeface="Wedges"/>
                <a:ea typeface="Wedges"/>
                <a:cs typeface="Wedges"/>
                <a:sym typeface="Wedges"/>
              </a:rPr>
              <a:t>(temporary)</a:t>
            </a:r>
          </a:p>
        </p:txBody>
      </p:sp>
      <p:sp>
        <p:nvSpPr>
          <p:cNvPr name="TextBox 9" id="9"/>
          <p:cNvSpPr txBox="true"/>
          <p:nvPr/>
        </p:nvSpPr>
        <p:spPr>
          <a:xfrm rot="0">
            <a:off x="556215" y="7029811"/>
            <a:ext cx="16703085" cy="3012950"/>
          </a:xfrm>
          <a:prstGeom prst="rect">
            <a:avLst/>
          </a:prstGeom>
        </p:spPr>
        <p:txBody>
          <a:bodyPr anchor="t" rtlCol="false" tIns="0" lIns="0" bIns="0" rIns="0">
            <a:spAutoFit/>
          </a:bodyPr>
          <a:lstStyle/>
          <a:p>
            <a:pPr algn="l" marL="621776" indent="-310888" lvl="1">
              <a:lnSpc>
                <a:spcPts val="4031"/>
              </a:lnSpc>
              <a:buFont typeface="Arial"/>
              <a:buChar char="•"/>
            </a:pPr>
            <a:r>
              <a:rPr lang="en-US" sz="2879">
                <a:solidFill>
                  <a:srgbClr val="805A62"/>
                </a:solidFill>
                <a:latin typeface="Dekko"/>
                <a:ea typeface="Dekko"/>
                <a:cs typeface="Dekko"/>
                <a:sym typeface="Dekko"/>
              </a:rPr>
              <a:t>Stores data only for the current browser tab</a:t>
            </a:r>
          </a:p>
          <a:p>
            <a:pPr algn="l" marL="621776" indent="-310888" lvl="1">
              <a:lnSpc>
                <a:spcPts val="4031"/>
              </a:lnSpc>
              <a:buFont typeface="Arial"/>
              <a:buChar char="•"/>
            </a:pPr>
            <a:r>
              <a:rPr lang="en-US" sz="2879">
                <a:solidFill>
                  <a:srgbClr val="805A62"/>
                </a:solidFill>
                <a:latin typeface="Dekko"/>
                <a:ea typeface="Dekko"/>
                <a:cs typeface="Dekko"/>
                <a:sym typeface="Dekko"/>
              </a:rPr>
              <a:t>Useful for temporary session-related data</a:t>
            </a:r>
          </a:p>
          <a:p>
            <a:pPr algn="l" marL="621776" indent="-310888" lvl="1">
              <a:lnSpc>
                <a:spcPts val="4031"/>
              </a:lnSpc>
              <a:buFont typeface="Arial"/>
              <a:buChar char="•"/>
            </a:pPr>
            <a:r>
              <a:rPr lang="en-US" sz="2879">
                <a:solidFill>
                  <a:srgbClr val="805A62"/>
                </a:solidFill>
                <a:latin typeface="Dekko"/>
                <a:ea typeface="Dekko"/>
                <a:cs typeface="Dekko"/>
                <a:sym typeface="Dekko"/>
              </a:rPr>
              <a:t>In this website:</a:t>
            </a:r>
          </a:p>
          <a:p>
            <a:pPr algn="l" marL="1243552" indent="-414517" lvl="2">
              <a:lnSpc>
                <a:spcPts val="4031"/>
              </a:lnSpc>
              <a:buFont typeface="Arial"/>
              <a:buChar char="⚬"/>
            </a:pPr>
            <a:r>
              <a:rPr lang="en-US" sz="2879">
                <a:solidFill>
                  <a:srgbClr val="805A62"/>
                </a:solidFill>
                <a:latin typeface="Dekko"/>
                <a:ea typeface="Dekko"/>
                <a:cs typeface="Dekko"/>
                <a:sym typeface="Dekko"/>
              </a:rPr>
              <a:t>Stores if the user is currently visiting (session marker)</a:t>
            </a:r>
          </a:p>
          <a:p>
            <a:pPr algn="l" marL="1243552" indent="-414517" lvl="2">
              <a:lnSpc>
                <a:spcPts val="4031"/>
              </a:lnSpc>
              <a:buFont typeface="Arial"/>
              <a:buChar char="⚬"/>
            </a:pPr>
            <a:r>
              <a:rPr lang="en-US" sz="2879">
                <a:solidFill>
                  <a:srgbClr val="805A62"/>
                </a:solidFill>
                <a:latin typeface="Dekko"/>
                <a:ea typeface="Dekko"/>
                <a:cs typeface="Dekko"/>
                <a:sym typeface="Dekko"/>
              </a:rPr>
              <a:t>Tracks temporary user status like "Guest" for testing</a:t>
            </a:r>
          </a:p>
          <a:p>
            <a:pPr algn="l" marL="1243552" indent="-414517" lvl="2">
              <a:lnSpc>
                <a:spcPts val="4031"/>
              </a:lnSpc>
              <a:buFont typeface="Arial"/>
              <a:buChar char="⚬"/>
            </a:pPr>
            <a:r>
              <a:rPr lang="en-US" sz="2879">
                <a:solidFill>
                  <a:srgbClr val="805A62"/>
                </a:solidFill>
                <a:latin typeface="Dekko"/>
                <a:ea typeface="Dekko"/>
                <a:cs typeface="Dekko"/>
                <a:sym typeface="Dekko"/>
              </a:rPr>
              <a:t>Helps demonstrate how information disappears after closing the tab</a:t>
            </a:r>
          </a:p>
        </p:txBody>
      </p:sp>
      <p:grpSp>
        <p:nvGrpSpPr>
          <p:cNvPr name="Group 10" id="10"/>
          <p:cNvGrpSpPr/>
          <p:nvPr/>
        </p:nvGrpSpPr>
        <p:grpSpPr>
          <a:xfrm rot="0">
            <a:off x="15074591" y="2618975"/>
            <a:ext cx="2627371" cy="262737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11823" r="0" b="-11823"/>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6381483">
            <a:off x="-3907500" y="4308153"/>
            <a:ext cx="7814999" cy="12245725"/>
          </a:xfrm>
          <a:custGeom>
            <a:avLst/>
            <a:gdLst/>
            <a:ahLst/>
            <a:cxnLst/>
            <a:rect r="r" b="b" t="t" l="l"/>
            <a:pathLst>
              <a:path h="12245725" w="7814999">
                <a:moveTo>
                  <a:pt x="0" y="0"/>
                </a:moveTo>
                <a:lnTo>
                  <a:pt x="7815000" y="0"/>
                </a:lnTo>
                <a:lnTo>
                  <a:pt x="7815000"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315856" y="3322955"/>
            <a:ext cx="9656288" cy="3926839"/>
          </a:xfrm>
          <a:prstGeom prst="rect">
            <a:avLst/>
          </a:prstGeom>
        </p:spPr>
        <p:txBody>
          <a:bodyPr anchor="t" rtlCol="false" tIns="0" lIns="0" bIns="0" rIns="0">
            <a:spAutoFit/>
          </a:bodyPr>
          <a:lstStyle/>
          <a:p>
            <a:pPr algn="ctr">
              <a:lnSpc>
                <a:spcPts val="15099"/>
              </a:lnSpc>
            </a:pPr>
            <a:r>
              <a:rPr lang="en-US" sz="15099">
                <a:solidFill>
                  <a:srgbClr val="B5838D"/>
                </a:solidFill>
                <a:latin typeface="Wedges"/>
                <a:ea typeface="Wedges"/>
                <a:cs typeface="Wedges"/>
                <a:sym typeface="Wedges"/>
              </a:rPr>
              <a:t>website</a:t>
            </a:r>
          </a:p>
          <a:p>
            <a:pPr algn="ctr">
              <a:lnSpc>
                <a:spcPts val="15099"/>
              </a:lnSpc>
            </a:pPr>
            <a:r>
              <a:rPr lang="en-US" sz="15099">
                <a:solidFill>
                  <a:srgbClr val="B5838D"/>
                </a:solidFill>
                <a:latin typeface="Wedges"/>
                <a:ea typeface="Wedges"/>
                <a:cs typeface="Wedges"/>
                <a:sym typeface="Wedges"/>
              </a:rPr>
              <a:t>demo</a:t>
            </a:r>
          </a:p>
        </p:txBody>
      </p:sp>
      <p:sp>
        <p:nvSpPr>
          <p:cNvPr name="Freeform 4" id="4"/>
          <p:cNvSpPr/>
          <p:nvPr/>
        </p:nvSpPr>
        <p:spPr>
          <a:xfrm flipH="false" flipV="false" rot="-2779055">
            <a:off x="13351800" y="-5094162"/>
            <a:ext cx="7814999" cy="12245725"/>
          </a:xfrm>
          <a:custGeom>
            <a:avLst/>
            <a:gdLst/>
            <a:ahLst/>
            <a:cxnLst/>
            <a:rect r="r" b="b" t="t" l="l"/>
            <a:pathLst>
              <a:path h="12245725" w="7814999">
                <a:moveTo>
                  <a:pt x="0" y="0"/>
                </a:moveTo>
                <a:lnTo>
                  <a:pt x="7815000" y="0"/>
                </a:lnTo>
                <a:lnTo>
                  <a:pt x="7815000" y="12245724"/>
                </a:lnTo>
                <a:lnTo>
                  <a:pt x="0" y="12245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457531">
            <a:off x="1773293" y="7294565"/>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457531">
            <a:off x="13453750" y="636873"/>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849820">
            <a:off x="14848576" y="7605376"/>
            <a:ext cx="1792971" cy="3071470"/>
          </a:xfrm>
          <a:custGeom>
            <a:avLst/>
            <a:gdLst/>
            <a:ahLst/>
            <a:cxnLst/>
            <a:rect r="r" b="b" t="t" l="l"/>
            <a:pathLst>
              <a:path h="3071470" w="1792971">
                <a:moveTo>
                  <a:pt x="0" y="0"/>
                </a:moveTo>
                <a:lnTo>
                  <a:pt x="1792970" y="0"/>
                </a:lnTo>
                <a:lnTo>
                  <a:pt x="1792970" y="3071471"/>
                </a:lnTo>
                <a:lnTo>
                  <a:pt x="0" y="30714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3849820">
            <a:off x="1646454" y="-517246"/>
            <a:ext cx="1792971" cy="3071470"/>
          </a:xfrm>
          <a:custGeom>
            <a:avLst/>
            <a:gdLst/>
            <a:ahLst/>
            <a:cxnLst/>
            <a:rect r="r" b="b" t="t" l="l"/>
            <a:pathLst>
              <a:path h="3071470" w="1792971">
                <a:moveTo>
                  <a:pt x="1792970" y="3071470"/>
                </a:moveTo>
                <a:lnTo>
                  <a:pt x="0" y="3071470"/>
                </a:lnTo>
                <a:lnTo>
                  <a:pt x="0" y="0"/>
                </a:lnTo>
                <a:lnTo>
                  <a:pt x="1792970" y="0"/>
                </a:lnTo>
                <a:lnTo>
                  <a:pt x="1792970" y="307147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true" rot="0">
            <a:off x="16076645" y="-104066"/>
            <a:ext cx="2365310" cy="2890720"/>
          </a:xfrm>
          <a:custGeom>
            <a:avLst/>
            <a:gdLst/>
            <a:ahLst/>
            <a:cxnLst/>
            <a:rect r="r" b="b" t="t" l="l"/>
            <a:pathLst>
              <a:path h="2890720" w="2365310">
                <a:moveTo>
                  <a:pt x="2365310" y="2890720"/>
                </a:moveTo>
                <a:lnTo>
                  <a:pt x="0" y="2890720"/>
                </a:lnTo>
                <a:lnTo>
                  <a:pt x="0" y="0"/>
                </a:lnTo>
                <a:lnTo>
                  <a:pt x="2365310" y="0"/>
                </a:lnTo>
                <a:lnTo>
                  <a:pt x="2365310" y="289072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4630400" y="1961735"/>
            <a:ext cx="7315200" cy="3604399"/>
          </a:xfrm>
          <a:custGeom>
            <a:avLst/>
            <a:gdLst/>
            <a:ahLst/>
            <a:cxnLst/>
            <a:rect r="r" b="b" t="t" l="l"/>
            <a:pathLst>
              <a:path h="3604399" w="7315200">
                <a:moveTo>
                  <a:pt x="0" y="0"/>
                </a:moveTo>
                <a:lnTo>
                  <a:pt x="7315200" y="0"/>
                </a:lnTo>
                <a:lnTo>
                  <a:pt x="7315200" y="3604398"/>
                </a:lnTo>
                <a:lnTo>
                  <a:pt x="0" y="36043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3259984" y="2299625"/>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0">
            <a:off x="6571667" y="-1953334"/>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true" flipV="true" rot="0">
            <a:off x="8085824" y="8559863"/>
            <a:ext cx="5802923" cy="4114800"/>
          </a:xfrm>
          <a:custGeom>
            <a:avLst/>
            <a:gdLst/>
            <a:ahLst/>
            <a:cxnLst/>
            <a:rect r="r" b="b" t="t" l="l"/>
            <a:pathLst>
              <a:path h="4114800" w="5802923">
                <a:moveTo>
                  <a:pt x="5802923" y="4114800"/>
                </a:moveTo>
                <a:lnTo>
                  <a:pt x="0" y="4114800"/>
                </a:lnTo>
                <a:lnTo>
                  <a:pt x="0" y="0"/>
                </a:lnTo>
                <a:lnTo>
                  <a:pt x="5802923" y="0"/>
                </a:lnTo>
                <a:lnTo>
                  <a:pt x="5802923" y="411480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6381483">
            <a:off x="-3907500" y="4308153"/>
            <a:ext cx="7814999" cy="12245725"/>
          </a:xfrm>
          <a:custGeom>
            <a:avLst/>
            <a:gdLst/>
            <a:ahLst/>
            <a:cxnLst/>
            <a:rect r="r" b="b" t="t" l="l"/>
            <a:pathLst>
              <a:path h="12245725" w="7814999">
                <a:moveTo>
                  <a:pt x="0" y="0"/>
                </a:moveTo>
                <a:lnTo>
                  <a:pt x="7815000" y="0"/>
                </a:lnTo>
                <a:lnTo>
                  <a:pt x="7815000"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315856" y="3322955"/>
            <a:ext cx="9656288" cy="3926839"/>
          </a:xfrm>
          <a:prstGeom prst="rect">
            <a:avLst/>
          </a:prstGeom>
        </p:spPr>
        <p:txBody>
          <a:bodyPr anchor="t" rtlCol="false" tIns="0" lIns="0" bIns="0" rIns="0">
            <a:spAutoFit/>
          </a:bodyPr>
          <a:lstStyle/>
          <a:p>
            <a:pPr algn="ctr">
              <a:lnSpc>
                <a:spcPts val="15099"/>
              </a:lnSpc>
            </a:pPr>
            <a:r>
              <a:rPr lang="en-US" sz="15099">
                <a:solidFill>
                  <a:srgbClr val="B5838D"/>
                </a:solidFill>
                <a:latin typeface="Wedges"/>
                <a:ea typeface="Wedges"/>
                <a:cs typeface="Wedges"/>
                <a:sym typeface="Wedges"/>
              </a:rPr>
              <a:t>QnA</a:t>
            </a:r>
          </a:p>
          <a:p>
            <a:pPr algn="ctr">
              <a:lnSpc>
                <a:spcPts val="15099"/>
              </a:lnSpc>
            </a:pPr>
            <a:r>
              <a:rPr lang="en-US" sz="15099">
                <a:solidFill>
                  <a:srgbClr val="B5838D"/>
                </a:solidFill>
                <a:latin typeface="Wedges"/>
                <a:ea typeface="Wedges"/>
                <a:cs typeface="Wedges"/>
                <a:sym typeface="Wedges"/>
              </a:rPr>
              <a:t>Session</a:t>
            </a:r>
          </a:p>
        </p:txBody>
      </p:sp>
      <p:sp>
        <p:nvSpPr>
          <p:cNvPr name="Freeform 4" id="4"/>
          <p:cNvSpPr/>
          <p:nvPr/>
        </p:nvSpPr>
        <p:spPr>
          <a:xfrm flipH="false" flipV="false" rot="-2779055">
            <a:off x="13351800" y="-5094162"/>
            <a:ext cx="7814999" cy="12245725"/>
          </a:xfrm>
          <a:custGeom>
            <a:avLst/>
            <a:gdLst/>
            <a:ahLst/>
            <a:cxnLst/>
            <a:rect r="r" b="b" t="t" l="l"/>
            <a:pathLst>
              <a:path h="12245725" w="7814999">
                <a:moveTo>
                  <a:pt x="0" y="0"/>
                </a:moveTo>
                <a:lnTo>
                  <a:pt x="7815000" y="0"/>
                </a:lnTo>
                <a:lnTo>
                  <a:pt x="7815000" y="12245724"/>
                </a:lnTo>
                <a:lnTo>
                  <a:pt x="0" y="12245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457531">
            <a:off x="1773293" y="7294565"/>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457531">
            <a:off x="13453750" y="636873"/>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849820">
            <a:off x="14848576" y="7605376"/>
            <a:ext cx="1792971" cy="3071470"/>
          </a:xfrm>
          <a:custGeom>
            <a:avLst/>
            <a:gdLst/>
            <a:ahLst/>
            <a:cxnLst/>
            <a:rect r="r" b="b" t="t" l="l"/>
            <a:pathLst>
              <a:path h="3071470" w="1792971">
                <a:moveTo>
                  <a:pt x="0" y="0"/>
                </a:moveTo>
                <a:lnTo>
                  <a:pt x="1792970" y="0"/>
                </a:lnTo>
                <a:lnTo>
                  <a:pt x="1792970" y="3071471"/>
                </a:lnTo>
                <a:lnTo>
                  <a:pt x="0" y="30714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3849820">
            <a:off x="1646454" y="-517246"/>
            <a:ext cx="1792971" cy="3071470"/>
          </a:xfrm>
          <a:custGeom>
            <a:avLst/>
            <a:gdLst/>
            <a:ahLst/>
            <a:cxnLst/>
            <a:rect r="r" b="b" t="t" l="l"/>
            <a:pathLst>
              <a:path h="3071470" w="1792971">
                <a:moveTo>
                  <a:pt x="1792970" y="3071470"/>
                </a:moveTo>
                <a:lnTo>
                  <a:pt x="0" y="3071470"/>
                </a:lnTo>
                <a:lnTo>
                  <a:pt x="0" y="0"/>
                </a:lnTo>
                <a:lnTo>
                  <a:pt x="1792970" y="0"/>
                </a:lnTo>
                <a:lnTo>
                  <a:pt x="1792970" y="307147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true" rot="0">
            <a:off x="16076645" y="-104066"/>
            <a:ext cx="2365310" cy="2890720"/>
          </a:xfrm>
          <a:custGeom>
            <a:avLst/>
            <a:gdLst/>
            <a:ahLst/>
            <a:cxnLst/>
            <a:rect r="r" b="b" t="t" l="l"/>
            <a:pathLst>
              <a:path h="2890720" w="2365310">
                <a:moveTo>
                  <a:pt x="2365310" y="2890720"/>
                </a:moveTo>
                <a:lnTo>
                  <a:pt x="0" y="2890720"/>
                </a:lnTo>
                <a:lnTo>
                  <a:pt x="0" y="0"/>
                </a:lnTo>
                <a:lnTo>
                  <a:pt x="2365310" y="0"/>
                </a:lnTo>
                <a:lnTo>
                  <a:pt x="2365310" y="289072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4630400" y="1961735"/>
            <a:ext cx="7315200" cy="3604399"/>
          </a:xfrm>
          <a:custGeom>
            <a:avLst/>
            <a:gdLst/>
            <a:ahLst/>
            <a:cxnLst/>
            <a:rect r="r" b="b" t="t" l="l"/>
            <a:pathLst>
              <a:path h="3604399" w="7315200">
                <a:moveTo>
                  <a:pt x="0" y="0"/>
                </a:moveTo>
                <a:lnTo>
                  <a:pt x="7315200" y="0"/>
                </a:lnTo>
                <a:lnTo>
                  <a:pt x="7315200" y="3604398"/>
                </a:lnTo>
                <a:lnTo>
                  <a:pt x="0" y="36043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3259984" y="2299625"/>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0">
            <a:off x="6571667" y="-1953334"/>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true" flipV="true" rot="0">
            <a:off x="8085824" y="8559863"/>
            <a:ext cx="5802923" cy="4114800"/>
          </a:xfrm>
          <a:custGeom>
            <a:avLst/>
            <a:gdLst/>
            <a:ahLst/>
            <a:cxnLst/>
            <a:rect r="r" b="b" t="t" l="l"/>
            <a:pathLst>
              <a:path h="4114800" w="5802923">
                <a:moveTo>
                  <a:pt x="5802923" y="4114800"/>
                </a:moveTo>
                <a:lnTo>
                  <a:pt x="0" y="4114800"/>
                </a:lnTo>
                <a:lnTo>
                  <a:pt x="0" y="0"/>
                </a:lnTo>
                <a:lnTo>
                  <a:pt x="5802923" y="0"/>
                </a:lnTo>
                <a:lnTo>
                  <a:pt x="5802923" y="411480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TextBox 2" id="2"/>
          <p:cNvSpPr txBox="true"/>
          <p:nvPr/>
        </p:nvSpPr>
        <p:spPr>
          <a:xfrm rot="0">
            <a:off x="717538" y="486716"/>
            <a:ext cx="10591286" cy="1274468"/>
          </a:xfrm>
          <a:prstGeom prst="rect">
            <a:avLst/>
          </a:prstGeom>
        </p:spPr>
        <p:txBody>
          <a:bodyPr anchor="t" rtlCol="false" tIns="0" lIns="0" bIns="0" rIns="0">
            <a:spAutoFit/>
          </a:bodyPr>
          <a:lstStyle/>
          <a:p>
            <a:pPr algn="l">
              <a:lnSpc>
                <a:spcPts val="9634"/>
              </a:lnSpc>
            </a:pPr>
            <a:r>
              <a:rPr lang="en-US" sz="9634">
                <a:solidFill>
                  <a:srgbClr val="B5838D"/>
                </a:solidFill>
                <a:latin typeface="Wedges"/>
                <a:ea typeface="Wedges"/>
                <a:cs typeface="Wedges"/>
                <a:sym typeface="Wedges"/>
              </a:rPr>
              <a:t>q&amp;a - member 1</a:t>
            </a:r>
          </a:p>
        </p:txBody>
      </p:sp>
      <p:sp>
        <p:nvSpPr>
          <p:cNvPr name="TextBox 3" id="3"/>
          <p:cNvSpPr txBox="true"/>
          <p:nvPr/>
        </p:nvSpPr>
        <p:spPr>
          <a:xfrm rot="0">
            <a:off x="0" y="3159129"/>
            <a:ext cx="18288000" cy="1425573"/>
          </a:xfrm>
          <a:prstGeom prst="rect">
            <a:avLst/>
          </a:prstGeom>
        </p:spPr>
        <p:txBody>
          <a:bodyPr anchor="t" rtlCol="false" tIns="0" lIns="0" bIns="0" rIns="0">
            <a:spAutoFit/>
          </a:bodyPr>
          <a:lstStyle/>
          <a:p>
            <a:pPr algn="ctr">
              <a:lnSpc>
                <a:spcPts val="5499"/>
              </a:lnSpc>
              <a:spcBef>
                <a:spcPct val="0"/>
              </a:spcBef>
            </a:pPr>
            <a:r>
              <a:rPr lang="en-US" sz="5499">
                <a:solidFill>
                  <a:srgbClr val="B5838D"/>
                </a:solidFill>
                <a:latin typeface="Wedges"/>
                <a:ea typeface="Wedges"/>
                <a:cs typeface="Wedges"/>
                <a:sym typeface="Wedges"/>
              </a:rPr>
              <a:t>Q:How does your website handle user data securely?  </a:t>
            </a:r>
          </a:p>
        </p:txBody>
      </p:sp>
      <p:sp>
        <p:nvSpPr>
          <p:cNvPr name="TextBox 4" id="4"/>
          <p:cNvSpPr txBox="true"/>
          <p:nvPr/>
        </p:nvSpPr>
        <p:spPr>
          <a:xfrm rot="0">
            <a:off x="88942" y="4841877"/>
            <a:ext cx="18110116" cy="4902198"/>
          </a:xfrm>
          <a:prstGeom prst="rect">
            <a:avLst/>
          </a:prstGeom>
        </p:spPr>
        <p:txBody>
          <a:bodyPr anchor="t" rtlCol="false" tIns="0" lIns="0" bIns="0" rIns="0">
            <a:spAutoFit/>
          </a:bodyPr>
          <a:lstStyle/>
          <a:p>
            <a:pPr algn="ctr">
              <a:lnSpc>
                <a:spcPts val="5499"/>
              </a:lnSpc>
              <a:spcBef>
                <a:spcPct val="0"/>
              </a:spcBef>
            </a:pPr>
          </a:p>
          <a:p>
            <a:pPr algn="ctr">
              <a:lnSpc>
                <a:spcPts val="5499"/>
              </a:lnSpc>
              <a:spcBef>
                <a:spcPct val="0"/>
              </a:spcBef>
            </a:pPr>
            <a:r>
              <a:rPr lang="en-US" sz="5499">
                <a:solidFill>
                  <a:srgbClr val="BFBEE8"/>
                </a:solidFill>
                <a:latin typeface="Wedges"/>
                <a:ea typeface="Wedges"/>
                <a:cs typeface="Wedges"/>
                <a:sym typeface="Wedges"/>
              </a:rPr>
              <a:t> A: Our site doesn't store sensitive data like login or payment info, reducing security risks. However, we sanitize all form inputs (e.g., Contact form) with JavaScript to prevent injection attacks and ensure clean data.</a:t>
            </a:r>
          </a:p>
        </p:txBody>
      </p:sp>
      <p:sp>
        <p:nvSpPr>
          <p:cNvPr name="TextBox 5" id="5"/>
          <p:cNvSpPr txBox="true"/>
          <p:nvPr/>
        </p:nvSpPr>
        <p:spPr>
          <a:xfrm rot="0">
            <a:off x="0" y="2020486"/>
            <a:ext cx="8017165" cy="730248"/>
          </a:xfrm>
          <a:prstGeom prst="rect">
            <a:avLst/>
          </a:prstGeom>
        </p:spPr>
        <p:txBody>
          <a:bodyPr anchor="t" rtlCol="false" tIns="0" lIns="0" bIns="0" rIns="0">
            <a:spAutoFit/>
          </a:bodyPr>
          <a:lstStyle/>
          <a:p>
            <a:pPr algn="ctr">
              <a:lnSpc>
                <a:spcPts val="5499"/>
              </a:lnSpc>
              <a:spcBef>
                <a:spcPct val="0"/>
              </a:spcBef>
            </a:pPr>
            <a:r>
              <a:rPr lang="en-US" sz="5499">
                <a:solidFill>
                  <a:srgbClr val="BFBEE8"/>
                </a:solidFill>
                <a:latin typeface="Wedges"/>
                <a:ea typeface="Wedges"/>
                <a:cs typeface="Wedges"/>
                <a:sym typeface="Wedges"/>
              </a:rPr>
              <a:t>Hor Jun Yin 2301812</a:t>
            </a:r>
          </a:p>
        </p:txBody>
      </p:sp>
      <p:grpSp>
        <p:nvGrpSpPr>
          <p:cNvPr name="Group 6" id="6"/>
          <p:cNvGrpSpPr/>
          <p:nvPr/>
        </p:nvGrpSpPr>
        <p:grpSpPr>
          <a:xfrm rot="0">
            <a:off x="15413015" y="296216"/>
            <a:ext cx="2158041" cy="21580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7916" r="0" b="-7916"/>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TextBox 2" id="2"/>
          <p:cNvSpPr txBox="true"/>
          <p:nvPr/>
        </p:nvSpPr>
        <p:spPr>
          <a:xfrm rot="0">
            <a:off x="717538" y="486716"/>
            <a:ext cx="10591286" cy="1274468"/>
          </a:xfrm>
          <a:prstGeom prst="rect">
            <a:avLst/>
          </a:prstGeom>
        </p:spPr>
        <p:txBody>
          <a:bodyPr anchor="t" rtlCol="false" tIns="0" lIns="0" bIns="0" rIns="0">
            <a:spAutoFit/>
          </a:bodyPr>
          <a:lstStyle/>
          <a:p>
            <a:pPr algn="l">
              <a:lnSpc>
                <a:spcPts val="9634"/>
              </a:lnSpc>
            </a:pPr>
            <a:r>
              <a:rPr lang="en-US" sz="9634">
                <a:solidFill>
                  <a:srgbClr val="B5838D"/>
                </a:solidFill>
                <a:latin typeface="Wedges"/>
                <a:ea typeface="Wedges"/>
                <a:cs typeface="Wedges"/>
                <a:sym typeface="Wedges"/>
              </a:rPr>
              <a:t>q&amp;a - member 2</a:t>
            </a:r>
          </a:p>
        </p:txBody>
      </p:sp>
      <p:sp>
        <p:nvSpPr>
          <p:cNvPr name="TextBox 3" id="3"/>
          <p:cNvSpPr txBox="true"/>
          <p:nvPr/>
        </p:nvSpPr>
        <p:spPr>
          <a:xfrm rot="0">
            <a:off x="88942" y="3850379"/>
            <a:ext cx="18288000" cy="1425573"/>
          </a:xfrm>
          <a:prstGeom prst="rect">
            <a:avLst/>
          </a:prstGeom>
        </p:spPr>
        <p:txBody>
          <a:bodyPr anchor="t" rtlCol="false" tIns="0" lIns="0" bIns="0" rIns="0">
            <a:spAutoFit/>
          </a:bodyPr>
          <a:lstStyle/>
          <a:p>
            <a:pPr algn="ctr">
              <a:lnSpc>
                <a:spcPts val="5499"/>
              </a:lnSpc>
              <a:spcBef>
                <a:spcPct val="0"/>
              </a:spcBef>
            </a:pPr>
            <a:r>
              <a:rPr lang="en-US" sz="5499">
                <a:solidFill>
                  <a:srgbClr val="B5838D"/>
                </a:solidFill>
                <a:latin typeface="Wedges"/>
                <a:ea typeface="Wedges"/>
                <a:cs typeface="Wedges"/>
                <a:sym typeface="Wedges"/>
              </a:rPr>
              <a:t>Q: How did you ensure the navigation is user-friendly? </a:t>
            </a:r>
          </a:p>
        </p:txBody>
      </p:sp>
      <p:sp>
        <p:nvSpPr>
          <p:cNvPr name="TextBox 4" id="4"/>
          <p:cNvSpPr txBox="true"/>
          <p:nvPr/>
        </p:nvSpPr>
        <p:spPr>
          <a:xfrm rot="0">
            <a:off x="177884" y="5557329"/>
            <a:ext cx="18110116" cy="4206873"/>
          </a:xfrm>
          <a:prstGeom prst="rect">
            <a:avLst/>
          </a:prstGeom>
        </p:spPr>
        <p:txBody>
          <a:bodyPr anchor="t" rtlCol="false" tIns="0" lIns="0" bIns="0" rIns="0">
            <a:spAutoFit/>
          </a:bodyPr>
          <a:lstStyle/>
          <a:p>
            <a:pPr algn="ctr">
              <a:lnSpc>
                <a:spcPts val="5499"/>
              </a:lnSpc>
              <a:spcBef>
                <a:spcPct val="0"/>
              </a:spcBef>
            </a:pPr>
          </a:p>
          <a:p>
            <a:pPr algn="ctr">
              <a:lnSpc>
                <a:spcPts val="5499"/>
              </a:lnSpc>
              <a:spcBef>
                <a:spcPct val="0"/>
              </a:spcBef>
            </a:pPr>
            <a:r>
              <a:rPr lang="en-US" sz="5499">
                <a:solidFill>
                  <a:srgbClr val="BFBEE8"/>
                </a:solidFill>
                <a:latin typeface="Wedges"/>
                <a:ea typeface="Wedges"/>
                <a:cs typeface="Wedges"/>
                <a:sym typeface="Wedges"/>
              </a:rPr>
              <a:t> A: We kept the navigation bar consistent on all pages, used clear labels, and designed an intuitive layout. Dropdowns and buttons are easy to find, and users can return to the homepage anytime.</a:t>
            </a:r>
          </a:p>
        </p:txBody>
      </p:sp>
      <p:sp>
        <p:nvSpPr>
          <p:cNvPr name="TextBox 5" id="5"/>
          <p:cNvSpPr txBox="true"/>
          <p:nvPr/>
        </p:nvSpPr>
        <p:spPr>
          <a:xfrm rot="0">
            <a:off x="463581" y="2042561"/>
            <a:ext cx="9725922" cy="730248"/>
          </a:xfrm>
          <a:prstGeom prst="rect">
            <a:avLst/>
          </a:prstGeom>
        </p:spPr>
        <p:txBody>
          <a:bodyPr anchor="t" rtlCol="false" tIns="0" lIns="0" bIns="0" rIns="0">
            <a:spAutoFit/>
          </a:bodyPr>
          <a:lstStyle/>
          <a:p>
            <a:pPr algn="ctr">
              <a:lnSpc>
                <a:spcPts val="5499"/>
              </a:lnSpc>
              <a:spcBef>
                <a:spcPct val="0"/>
              </a:spcBef>
            </a:pPr>
            <a:r>
              <a:rPr lang="en-US" sz="5499">
                <a:solidFill>
                  <a:srgbClr val="BFBEE8"/>
                </a:solidFill>
                <a:latin typeface="Wedges"/>
                <a:ea typeface="Wedges"/>
                <a:cs typeface="Wedges"/>
                <a:sym typeface="Wedges"/>
              </a:rPr>
              <a:t>FONG JING XIANG 2302663</a:t>
            </a:r>
          </a:p>
        </p:txBody>
      </p:sp>
      <p:grpSp>
        <p:nvGrpSpPr>
          <p:cNvPr name="Group 6" id="6"/>
          <p:cNvGrpSpPr/>
          <p:nvPr/>
        </p:nvGrpSpPr>
        <p:grpSpPr>
          <a:xfrm rot="0">
            <a:off x="14322236" y="239466"/>
            <a:ext cx="2738386" cy="3043436"/>
            <a:chOff x="0" y="0"/>
            <a:chExt cx="909650" cy="1010983"/>
          </a:xfrm>
        </p:grpSpPr>
        <p:sp>
          <p:nvSpPr>
            <p:cNvPr name="Freeform 7" id="7"/>
            <p:cNvSpPr/>
            <p:nvPr/>
          </p:nvSpPr>
          <p:spPr>
            <a:xfrm flipH="false" flipV="false" rot="0">
              <a:off x="0" y="0"/>
              <a:ext cx="909650" cy="1010983"/>
            </a:xfrm>
            <a:custGeom>
              <a:avLst/>
              <a:gdLst/>
              <a:ahLst/>
              <a:cxnLst/>
              <a:rect r="r" b="b" t="t" l="l"/>
              <a:pathLst>
                <a:path h="1010983" w="909650">
                  <a:moveTo>
                    <a:pt x="454825" y="0"/>
                  </a:moveTo>
                  <a:cubicBezTo>
                    <a:pt x="203632" y="0"/>
                    <a:pt x="0" y="226316"/>
                    <a:pt x="0" y="505491"/>
                  </a:cubicBezTo>
                  <a:cubicBezTo>
                    <a:pt x="0" y="784666"/>
                    <a:pt x="203632" y="1010983"/>
                    <a:pt x="454825" y="1010983"/>
                  </a:cubicBezTo>
                  <a:cubicBezTo>
                    <a:pt x="706018" y="1010983"/>
                    <a:pt x="909650" y="784666"/>
                    <a:pt x="909650" y="505491"/>
                  </a:cubicBezTo>
                  <a:cubicBezTo>
                    <a:pt x="909650" y="226316"/>
                    <a:pt x="706018" y="0"/>
                    <a:pt x="454825" y="0"/>
                  </a:cubicBezTo>
                  <a:close/>
                </a:path>
              </a:pathLst>
            </a:custGeom>
            <a:blipFill>
              <a:blip r:embed="rId2"/>
              <a:stretch>
                <a:fillRect l="-16023" t="0" r="-16023"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TextBox 2" id="2"/>
          <p:cNvSpPr txBox="true"/>
          <p:nvPr/>
        </p:nvSpPr>
        <p:spPr>
          <a:xfrm rot="0">
            <a:off x="717538" y="486716"/>
            <a:ext cx="10591286" cy="1274468"/>
          </a:xfrm>
          <a:prstGeom prst="rect">
            <a:avLst/>
          </a:prstGeom>
        </p:spPr>
        <p:txBody>
          <a:bodyPr anchor="t" rtlCol="false" tIns="0" lIns="0" bIns="0" rIns="0">
            <a:spAutoFit/>
          </a:bodyPr>
          <a:lstStyle/>
          <a:p>
            <a:pPr algn="l">
              <a:lnSpc>
                <a:spcPts val="9634"/>
              </a:lnSpc>
            </a:pPr>
            <a:r>
              <a:rPr lang="en-US" sz="9634">
                <a:solidFill>
                  <a:srgbClr val="B5838D"/>
                </a:solidFill>
                <a:latin typeface="Wedges"/>
                <a:ea typeface="Wedges"/>
                <a:cs typeface="Wedges"/>
                <a:sym typeface="Wedges"/>
              </a:rPr>
              <a:t>q&amp;a - member 3</a:t>
            </a:r>
          </a:p>
        </p:txBody>
      </p:sp>
      <p:sp>
        <p:nvSpPr>
          <p:cNvPr name="TextBox 3" id="3"/>
          <p:cNvSpPr txBox="true"/>
          <p:nvPr/>
        </p:nvSpPr>
        <p:spPr>
          <a:xfrm rot="0">
            <a:off x="0" y="3521079"/>
            <a:ext cx="18288000" cy="2120898"/>
          </a:xfrm>
          <a:prstGeom prst="rect">
            <a:avLst/>
          </a:prstGeom>
        </p:spPr>
        <p:txBody>
          <a:bodyPr anchor="t" rtlCol="false" tIns="0" lIns="0" bIns="0" rIns="0">
            <a:spAutoFit/>
          </a:bodyPr>
          <a:lstStyle/>
          <a:p>
            <a:pPr algn="ctr">
              <a:lnSpc>
                <a:spcPts val="5499"/>
              </a:lnSpc>
              <a:spcBef>
                <a:spcPct val="0"/>
              </a:spcBef>
            </a:pPr>
            <a:r>
              <a:rPr lang="en-US" sz="5499">
                <a:solidFill>
                  <a:srgbClr val="B5838D"/>
                </a:solidFill>
                <a:latin typeface="Wedges"/>
                <a:ea typeface="Wedges"/>
                <a:cs typeface="Wedges"/>
                <a:sym typeface="Wedges"/>
              </a:rPr>
              <a:t>Q: How did you ensure accuracy and relevance of the travel data?</a:t>
            </a:r>
          </a:p>
          <a:p>
            <a:pPr algn="ctr">
              <a:lnSpc>
                <a:spcPts val="5499"/>
              </a:lnSpc>
              <a:spcBef>
                <a:spcPct val="0"/>
              </a:spcBef>
            </a:pPr>
          </a:p>
        </p:txBody>
      </p:sp>
      <p:sp>
        <p:nvSpPr>
          <p:cNvPr name="TextBox 4" id="4"/>
          <p:cNvSpPr txBox="true"/>
          <p:nvPr/>
        </p:nvSpPr>
        <p:spPr>
          <a:xfrm rot="0">
            <a:off x="0" y="5746752"/>
            <a:ext cx="18110116" cy="3511548"/>
          </a:xfrm>
          <a:prstGeom prst="rect">
            <a:avLst/>
          </a:prstGeom>
        </p:spPr>
        <p:txBody>
          <a:bodyPr anchor="t" rtlCol="false" tIns="0" lIns="0" bIns="0" rIns="0">
            <a:spAutoFit/>
          </a:bodyPr>
          <a:lstStyle/>
          <a:p>
            <a:pPr algn="ctr">
              <a:lnSpc>
                <a:spcPts val="5499"/>
              </a:lnSpc>
              <a:spcBef>
                <a:spcPct val="0"/>
              </a:spcBef>
            </a:pPr>
          </a:p>
          <a:p>
            <a:pPr algn="ctr">
              <a:lnSpc>
                <a:spcPts val="5499"/>
              </a:lnSpc>
              <a:spcBef>
                <a:spcPct val="0"/>
              </a:spcBef>
            </a:pPr>
            <a:r>
              <a:rPr lang="en-US" sz="5499">
                <a:solidFill>
                  <a:srgbClr val="BFBEE8"/>
                </a:solidFill>
                <a:latin typeface="Wedges"/>
                <a:ea typeface="Wedges"/>
                <a:cs typeface="Wedges"/>
                <a:sym typeface="Wedges"/>
              </a:rPr>
              <a:t> A: I cross-checked details with official tourism boards and used up-to-date sources to ensure users are getting current and useful travel information.</a:t>
            </a:r>
          </a:p>
        </p:txBody>
      </p:sp>
      <p:sp>
        <p:nvSpPr>
          <p:cNvPr name="TextBox 5" id="5"/>
          <p:cNvSpPr txBox="true"/>
          <p:nvPr/>
        </p:nvSpPr>
        <p:spPr>
          <a:xfrm rot="0">
            <a:off x="1421734" y="1865959"/>
            <a:ext cx="8972654" cy="730248"/>
          </a:xfrm>
          <a:prstGeom prst="rect">
            <a:avLst/>
          </a:prstGeom>
        </p:spPr>
        <p:txBody>
          <a:bodyPr anchor="t" rtlCol="false" tIns="0" lIns="0" bIns="0" rIns="0">
            <a:spAutoFit/>
          </a:bodyPr>
          <a:lstStyle/>
          <a:p>
            <a:pPr algn="ctr">
              <a:lnSpc>
                <a:spcPts val="5499"/>
              </a:lnSpc>
              <a:spcBef>
                <a:spcPct val="0"/>
              </a:spcBef>
            </a:pPr>
            <a:r>
              <a:rPr lang="en-US" sz="5499">
                <a:solidFill>
                  <a:srgbClr val="BFBEE8"/>
                </a:solidFill>
                <a:latin typeface="Wedges"/>
                <a:ea typeface="Wedges"/>
                <a:cs typeface="Wedges"/>
                <a:sym typeface="Wedges"/>
              </a:rPr>
              <a:t>Woo Kah Wei 2400696</a:t>
            </a:r>
          </a:p>
        </p:txBody>
      </p:sp>
      <p:grpSp>
        <p:nvGrpSpPr>
          <p:cNvPr name="Group 6" id="6"/>
          <p:cNvGrpSpPr/>
          <p:nvPr/>
        </p:nvGrpSpPr>
        <p:grpSpPr>
          <a:xfrm rot="0">
            <a:off x="15171975" y="296216"/>
            <a:ext cx="2087325" cy="20873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6377" t="0" r="-6377"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TextBox 2" id="2"/>
          <p:cNvSpPr txBox="true"/>
          <p:nvPr/>
        </p:nvSpPr>
        <p:spPr>
          <a:xfrm rot="0">
            <a:off x="717538" y="486716"/>
            <a:ext cx="10591286" cy="1274468"/>
          </a:xfrm>
          <a:prstGeom prst="rect">
            <a:avLst/>
          </a:prstGeom>
        </p:spPr>
        <p:txBody>
          <a:bodyPr anchor="t" rtlCol="false" tIns="0" lIns="0" bIns="0" rIns="0">
            <a:spAutoFit/>
          </a:bodyPr>
          <a:lstStyle/>
          <a:p>
            <a:pPr algn="l">
              <a:lnSpc>
                <a:spcPts val="9634"/>
              </a:lnSpc>
            </a:pPr>
            <a:r>
              <a:rPr lang="en-US" sz="9634">
                <a:solidFill>
                  <a:srgbClr val="B5838D"/>
                </a:solidFill>
                <a:latin typeface="Wedges"/>
                <a:ea typeface="Wedges"/>
                <a:cs typeface="Wedges"/>
                <a:sym typeface="Wedges"/>
              </a:rPr>
              <a:t>q&amp;a - member 4</a:t>
            </a:r>
          </a:p>
        </p:txBody>
      </p:sp>
      <p:sp>
        <p:nvSpPr>
          <p:cNvPr name="TextBox 3" id="3"/>
          <p:cNvSpPr txBox="true"/>
          <p:nvPr/>
        </p:nvSpPr>
        <p:spPr>
          <a:xfrm rot="0">
            <a:off x="0" y="3476928"/>
            <a:ext cx="18288000" cy="1425573"/>
          </a:xfrm>
          <a:prstGeom prst="rect">
            <a:avLst/>
          </a:prstGeom>
        </p:spPr>
        <p:txBody>
          <a:bodyPr anchor="t" rtlCol="false" tIns="0" lIns="0" bIns="0" rIns="0">
            <a:spAutoFit/>
          </a:bodyPr>
          <a:lstStyle/>
          <a:p>
            <a:pPr algn="ctr">
              <a:lnSpc>
                <a:spcPts val="5499"/>
              </a:lnSpc>
              <a:spcBef>
                <a:spcPct val="0"/>
              </a:spcBef>
            </a:pPr>
            <a:r>
              <a:rPr lang="en-US" sz="5499">
                <a:solidFill>
                  <a:srgbClr val="B5838D"/>
                </a:solidFill>
                <a:latin typeface="Wedges"/>
                <a:ea typeface="Wedges"/>
                <a:cs typeface="Wedges"/>
                <a:sym typeface="Wedges"/>
              </a:rPr>
              <a:t>Q: How does your site help users plan trips better?</a:t>
            </a:r>
          </a:p>
        </p:txBody>
      </p:sp>
      <p:sp>
        <p:nvSpPr>
          <p:cNvPr name="TextBox 4" id="4"/>
          <p:cNvSpPr txBox="true"/>
          <p:nvPr/>
        </p:nvSpPr>
        <p:spPr>
          <a:xfrm rot="0">
            <a:off x="88942" y="5248275"/>
            <a:ext cx="18110116" cy="3511548"/>
          </a:xfrm>
          <a:prstGeom prst="rect">
            <a:avLst/>
          </a:prstGeom>
        </p:spPr>
        <p:txBody>
          <a:bodyPr anchor="t" rtlCol="false" tIns="0" lIns="0" bIns="0" rIns="0">
            <a:spAutoFit/>
          </a:bodyPr>
          <a:lstStyle/>
          <a:p>
            <a:pPr algn="ctr">
              <a:lnSpc>
                <a:spcPts val="5499"/>
              </a:lnSpc>
              <a:spcBef>
                <a:spcPct val="0"/>
              </a:spcBef>
            </a:pPr>
          </a:p>
          <a:p>
            <a:pPr algn="ctr">
              <a:lnSpc>
                <a:spcPts val="5499"/>
              </a:lnSpc>
              <a:spcBef>
                <a:spcPct val="0"/>
              </a:spcBef>
            </a:pPr>
            <a:r>
              <a:rPr lang="en-US" sz="5499">
                <a:solidFill>
                  <a:srgbClr val="BFBEE8"/>
                </a:solidFill>
                <a:latin typeface="Wedges"/>
                <a:ea typeface="Wedges"/>
                <a:cs typeface="Wedges"/>
                <a:sym typeface="Wedges"/>
              </a:rPr>
              <a:t> A: We offer best-travel-month suggestions, a quick weather overview, and focused destination highlights to help users make faster, more informed decisions.</a:t>
            </a:r>
          </a:p>
        </p:txBody>
      </p:sp>
      <p:sp>
        <p:nvSpPr>
          <p:cNvPr name="TextBox 5" id="5"/>
          <p:cNvSpPr txBox="true"/>
          <p:nvPr/>
        </p:nvSpPr>
        <p:spPr>
          <a:xfrm rot="0">
            <a:off x="0" y="2042561"/>
            <a:ext cx="9144000" cy="730248"/>
          </a:xfrm>
          <a:prstGeom prst="rect">
            <a:avLst/>
          </a:prstGeom>
        </p:spPr>
        <p:txBody>
          <a:bodyPr anchor="t" rtlCol="false" tIns="0" lIns="0" bIns="0" rIns="0">
            <a:spAutoFit/>
          </a:bodyPr>
          <a:lstStyle/>
          <a:p>
            <a:pPr algn="ctr">
              <a:lnSpc>
                <a:spcPts val="5499"/>
              </a:lnSpc>
              <a:spcBef>
                <a:spcPct val="0"/>
              </a:spcBef>
            </a:pPr>
            <a:r>
              <a:rPr lang="en-US" sz="5499">
                <a:solidFill>
                  <a:srgbClr val="BFBEE8"/>
                </a:solidFill>
                <a:latin typeface="Wedges"/>
                <a:ea typeface="Wedges"/>
                <a:cs typeface="Wedges"/>
                <a:sym typeface="Wedges"/>
              </a:rPr>
              <a:t>KAM QING WEN 2400897</a:t>
            </a:r>
          </a:p>
        </p:txBody>
      </p:sp>
      <p:grpSp>
        <p:nvGrpSpPr>
          <p:cNvPr name="Group 6" id="6"/>
          <p:cNvGrpSpPr/>
          <p:nvPr/>
        </p:nvGrpSpPr>
        <p:grpSpPr>
          <a:xfrm rot="0">
            <a:off x="15122050" y="296216"/>
            <a:ext cx="2627371" cy="262737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11823" r="0" b="-11823"/>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1EE"/>
        </a:solidFill>
      </p:bgPr>
    </p:bg>
    <p:spTree>
      <p:nvGrpSpPr>
        <p:cNvPr id="1" name=""/>
        <p:cNvGrpSpPr/>
        <p:nvPr/>
      </p:nvGrpSpPr>
      <p:grpSpPr>
        <a:xfrm>
          <a:off x="0" y="0"/>
          <a:ext cx="0" cy="0"/>
          <a:chOff x="0" y="0"/>
          <a:chExt cx="0" cy="0"/>
        </a:xfrm>
      </p:grpSpPr>
      <p:sp>
        <p:nvSpPr>
          <p:cNvPr name="Freeform 2" id="2"/>
          <p:cNvSpPr/>
          <p:nvPr/>
        </p:nvSpPr>
        <p:spPr>
          <a:xfrm flipH="false" flipV="false" rot="-6381483">
            <a:off x="-3907500" y="4308153"/>
            <a:ext cx="7814999" cy="12245725"/>
          </a:xfrm>
          <a:custGeom>
            <a:avLst/>
            <a:gdLst/>
            <a:ahLst/>
            <a:cxnLst/>
            <a:rect r="r" b="b" t="t" l="l"/>
            <a:pathLst>
              <a:path h="12245725" w="7814999">
                <a:moveTo>
                  <a:pt x="0" y="0"/>
                </a:moveTo>
                <a:lnTo>
                  <a:pt x="7815000" y="0"/>
                </a:lnTo>
                <a:lnTo>
                  <a:pt x="7815000" y="12245725"/>
                </a:lnTo>
                <a:lnTo>
                  <a:pt x="0" y="122457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315856" y="3322955"/>
            <a:ext cx="9656288" cy="3926839"/>
          </a:xfrm>
          <a:prstGeom prst="rect">
            <a:avLst/>
          </a:prstGeom>
        </p:spPr>
        <p:txBody>
          <a:bodyPr anchor="t" rtlCol="false" tIns="0" lIns="0" bIns="0" rIns="0">
            <a:spAutoFit/>
          </a:bodyPr>
          <a:lstStyle/>
          <a:p>
            <a:pPr algn="ctr">
              <a:lnSpc>
                <a:spcPts val="15099"/>
              </a:lnSpc>
            </a:pPr>
            <a:r>
              <a:rPr lang="en-US" sz="15099">
                <a:solidFill>
                  <a:srgbClr val="B5838D"/>
                </a:solidFill>
                <a:latin typeface="Wedges"/>
                <a:ea typeface="Wedges"/>
                <a:cs typeface="Wedges"/>
                <a:sym typeface="Wedges"/>
              </a:rPr>
              <a:t>Thank</a:t>
            </a:r>
          </a:p>
          <a:p>
            <a:pPr algn="ctr">
              <a:lnSpc>
                <a:spcPts val="15099"/>
              </a:lnSpc>
            </a:pPr>
            <a:r>
              <a:rPr lang="en-US" sz="15099">
                <a:solidFill>
                  <a:srgbClr val="B5838D"/>
                </a:solidFill>
                <a:latin typeface="Wedges"/>
                <a:ea typeface="Wedges"/>
                <a:cs typeface="Wedges"/>
                <a:sym typeface="Wedges"/>
              </a:rPr>
              <a:t>You</a:t>
            </a:r>
          </a:p>
        </p:txBody>
      </p:sp>
      <p:sp>
        <p:nvSpPr>
          <p:cNvPr name="Freeform 4" id="4"/>
          <p:cNvSpPr/>
          <p:nvPr/>
        </p:nvSpPr>
        <p:spPr>
          <a:xfrm flipH="false" flipV="false" rot="-2779055">
            <a:off x="13351800" y="-5094162"/>
            <a:ext cx="7814999" cy="12245725"/>
          </a:xfrm>
          <a:custGeom>
            <a:avLst/>
            <a:gdLst/>
            <a:ahLst/>
            <a:cxnLst/>
            <a:rect r="r" b="b" t="t" l="l"/>
            <a:pathLst>
              <a:path h="12245725" w="7814999">
                <a:moveTo>
                  <a:pt x="0" y="0"/>
                </a:moveTo>
                <a:lnTo>
                  <a:pt x="7815000" y="0"/>
                </a:lnTo>
                <a:lnTo>
                  <a:pt x="7815000" y="12245724"/>
                </a:lnTo>
                <a:lnTo>
                  <a:pt x="0" y="12245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457531">
            <a:off x="1773293" y="7294565"/>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457531">
            <a:off x="13453750" y="636873"/>
            <a:ext cx="1843945" cy="2057400"/>
          </a:xfrm>
          <a:custGeom>
            <a:avLst/>
            <a:gdLst/>
            <a:ahLst/>
            <a:cxnLst/>
            <a:rect r="r" b="b" t="t" l="l"/>
            <a:pathLst>
              <a:path h="2057400" w="1843945">
                <a:moveTo>
                  <a:pt x="0" y="0"/>
                </a:moveTo>
                <a:lnTo>
                  <a:pt x="1843945" y="0"/>
                </a:lnTo>
                <a:lnTo>
                  <a:pt x="1843945"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849820">
            <a:off x="14848576" y="7605376"/>
            <a:ext cx="1792971" cy="3071470"/>
          </a:xfrm>
          <a:custGeom>
            <a:avLst/>
            <a:gdLst/>
            <a:ahLst/>
            <a:cxnLst/>
            <a:rect r="r" b="b" t="t" l="l"/>
            <a:pathLst>
              <a:path h="3071470" w="1792971">
                <a:moveTo>
                  <a:pt x="0" y="0"/>
                </a:moveTo>
                <a:lnTo>
                  <a:pt x="1792970" y="0"/>
                </a:lnTo>
                <a:lnTo>
                  <a:pt x="1792970" y="3071471"/>
                </a:lnTo>
                <a:lnTo>
                  <a:pt x="0" y="30714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3849820">
            <a:off x="1646454" y="-517246"/>
            <a:ext cx="1792971" cy="3071470"/>
          </a:xfrm>
          <a:custGeom>
            <a:avLst/>
            <a:gdLst/>
            <a:ahLst/>
            <a:cxnLst/>
            <a:rect r="r" b="b" t="t" l="l"/>
            <a:pathLst>
              <a:path h="3071470" w="1792971">
                <a:moveTo>
                  <a:pt x="1792970" y="3071470"/>
                </a:moveTo>
                <a:lnTo>
                  <a:pt x="0" y="3071470"/>
                </a:lnTo>
                <a:lnTo>
                  <a:pt x="0" y="0"/>
                </a:lnTo>
                <a:lnTo>
                  <a:pt x="1792970" y="0"/>
                </a:lnTo>
                <a:lnTo>
                  <a:pt x="1792970" y="307147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true" rot="0">
            <a:off x="16076645" y="-104066"/>
            <a:ext cx="2365310" cy="2890720"/>
          </a:xfrm>
          <a:custGeom>
            <a:avLst/>
            <a:gdLst/>
            <a:ahLst/>
            <a:cxnLst/>
            <a:rect r="r" b="b" t="t" l="l"/>
            <a:pathLst>
              <a:path h="2890720" w="2365310">
                <a:moveTo>
                  <a:pt x="2365310" y="2890720"/>
                </a:moveTo>
                <a:lnTo>
                  <a:pt x="0" y="2890720"/>
                </a:lnTo>
                <a:lnTo>
                  <a:pt x="0" y="0"/>
                </a:lnTo>
                <a:lnTo>
                  <a:pt x="2365310" y="0"/>
                </a:lnTo>
                <a:lnTo>
                  <a:pt x="2365310" y="289072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96826" y="7782149"/>
            <a:ext cx="2365310" cy="2890720"/>
          </a:xfrm>
          <a:custGeom>
            <a:avLst/>
            <a:gdLst/>
            <a:ahLst/>
            <a:cxnLst/>
            <a:rect r="r" b="b" t="t" l="l"/>
            <a:pathLst>
              <a:path h="2890720" w="2365310">
                <a:moveTo>
                  <a:pt x="0" y="0"/>
                </a:moveTo>
                <a:lnTo>
                  <a:pt x="2365310" y="0"/>
                </a:lnTo>
                <a:lnTo>
                  <a:pt x="2365310" y="2890720"/>
                </a:lnTo>
                <a:lnTo>
                  <a:pt x="0" y="28907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962334" y="9664559"/>
            <a:ext cx="7315200" cy="3604399"/>
          </a:xfrm>
          <a:custGeom>
            <a:avLst/>
            <a:gdLst/>
            <a:ahLst/>
            <a:cxnLst/>
            <a:rect r="r" b="b" t="t" l="l"/>
            <a:pathLst>
              <a:path h="3604399" w="7315200">
                <a:moveTo>
                  <a:pt x="0" y="0"/>
                </a:moveTo>
                <a:lnTo>
                  <a:pt x="7315200" y="0"/>
                </a:lnTo>
                <a:lnTo>
                  <a:pt x="7315200" y="3604399"/>
                </a:lnTo>
                <a:lnTo>
                  <a:pt x="0" y="360439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4630400" y="1961735"/>
            <a:ext cx="7315200" cy="3604399"/>
          </a:xfrm>
          <a:custGeom>
            <a:avLst/>
            <a:gdLst/>
            <a:ahLst/>
            <a:cxnLst/>
            <a:rect r="r" b="b" t="t" l="l"/>
            <a:pathLst>
              <a:path h="3604399" w="7315200">
                <a:moveTo>
                  <a:pt x="0" y="0"/>
                </a:moveTo>
                <a:lnTo>
                  <a:pt x="7315200" y="0"/>
                </a:lnTo>
                <a:lnTo>
                  <a:pt x="7315200" y="3604398"/>
                </a:lnTo>
                <a:lnTo>
                  <a:pt x="0" y="36043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3259984" y="2299625"/>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0">
            <a:off x="6571667" y="-1953334"/>
            <a:ext cx="5802923" cy="4114800"/>
          </a:xfrm>
          <a:custGeom>
            <a:avLst/>
            <a:gdLst/>
            <a:ahLst/>
            <a:cxnLst/>
            <a:rect r="r" b="b" t="t" l="l"/>
            <a:pathLst>
              <a:path h="4114800" w="5802923">
                <a:moveTo>
                  <a:pt x="0" y="0"/>
                </a:moveTo>
                <a:lnTo>
                  <a:pt x="5802923" y="0"/>
                </a:lnTo>
                <a:lnTo>
                  <a:pt x="580292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true" flipV="true" rot="0">
            <a:off x="8085824" y="8559863"/>
            <a:ext cx="5802923" cy="4114800"/>
          </a:xfrm>
          <a:custGeom>
            <a:avLst/>
            <a:gdLst/>
            <a:ahLst/>
            <a:cxnLst/>
            <a:rect r="r" b="b" t="t" l="l"/>
            <a:pathLst>
              <a:path h="4114800" w="5802923">
                <a:moveTo>
                  <a:pt x="5802923" y="4114800"/>
                </a:moveTo>
                <a:lnTo>
                  <a:pt x="0" y="4114800"/>
                </a:lnTo>
                <a:lnTo>
                  <a:pt x="0" y="0"/>
                </a:lnTo>
                <a:lnTo>
                  <a:pt x="5802923" y="0"/>
                </a:lnTo>
                <a:lnTo>
                  <a:pt x="5802923" y="411480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DAGk9oEC7ck</dc:identifier>
  <dcterms:modified xsi:type="dcterms:W3CDTF">2011-08-01T06:04:30Z</dcterms:modified>
  <cp:revision>1</cp:revision>
  <dc:title>Group member</dc:title>
</cp:coreProperties>
</file>